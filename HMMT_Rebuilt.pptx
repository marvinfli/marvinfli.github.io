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a0ca49ccde74088" /><Relationship Type="http://schemas.openxmlformats.org/officeDocument/2006/relationships/extended-properties" Target="/docProps/app.xml" Id="Rcdd301187b134b68" /><Relationship Type="http://schemas.openxmlformats.org/officeDocument/2006/relationships/officeDocument" Target="/ppt/presentation.xml" Id="Rfc5a8777577e4544" /></Relationships>
</file>

<file path=ppt/presentation.xml><?xml version="1.0" encoding="utf-8"?>
<p:presentation xmlns:p="http://schemas.openxmlformats.org/presentationml/2006/main">
  <p:sldMasterIdLst>
    <p:sldMasterId xmlns:r="http://schemas.openxmlformats.org/officeDocument/2006/relationships" id="2147483648" r:id="R4f119c976fad4fc7"/>
  </p:sldMasterIdLst>
  <p:notesMasterIdLst>
    <p:notesMasterId xmlns:r="http://schemas.openxmlformats.org/officeDocument/2006/relationships" r:id="R6e8a1efc0ba54341"/>
  </p:notesMasterIdLst>
  <p:sldIdLst>
    <p:sldId xmlns:r="http://schemas.openxmlformats.org/officeDocument/2006/relationships" id="256" r:id="R91055173ed454c45"/>
    <p:sldId xmlns:r="http://schemas.openxmlformats.org/officeDocument/2006/relationships" id="257" r:id="R6e5bd7edaa474714"/>
    <p:sldId xmlns:r="http://schemas.openxmlformats.org/officeDocument/2006/relationships" id="258" r:id="R4826955cc0514d14"/>
    <p:sldId xmlns:r="http://schemas.openxmlformats.org/officeDocument/2006/relationships" id="259" r:id="R067a572cdf4e45a3"/>
    <p:sldId xmlns:r="http://schemas.openxmlformats.org/officeDocument/2006/relationships" id="260" r:id="R2107e5c280a44632"/>
    <p:sldId xmlns:r="http://schemas.openxmlformats.org/officeDocument/2006/relationships" id="261" r:id="Rd22eaf3157164144"/>
    <p:sldId xmlns:r="http://schemas.openxmlformats.org/officeDocument/2006/relationships" id="262" r:id="R0dbe6e41b0b8411a"/>
    <p:sldId xmlns:r="http://schemas.openxmlformats.org/officeDocument/2006/relationships" id="263" r:id="R721619d07c8a4dfd"/>
    <p:sldId xmlns:r="http://schemas.openxmlformats.org/officeDocument/2006/relationships" id="264" r:id="Re539c6fd0c404238"/>
    <p:sldId xmlns:r="http://schemas.openxmlformats.org/officeDocument/2006/relationships" id="265" r:id="Rbbdca570c2a94e7e"/>
    <p:sldId xmlns:r="http://schemas.openxmlformats.org/officeDocument/2006/relationships" id="266" r:id="R36c5bd21d785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b89080f954c76" /><Relationship Type="http://schemas.openxmlformats.org/officeDocument/2006/relationships/slideMaster" Target="/ppt/slideMasters/slideMaster1.xml" Id="R4f119c976fad4fc7" /><Relationship Type="http://schemas.openxmlformats.org/officeDocument/2006/relationships/notesMaster" Target="/ppt/notesMasters/notesMaster1.xml" Id="R6e8a1efc0ba54341" /><Relationship Type="http://schemas.openxmlformats.org/officeDocument/2006/relationships/presProps" Target="/ppt/presProps.xml" Id="R6bede6bfc4354d37" /><Relationship Type="http://schemas.openxmlformats.org/officeDocument/2006/relationships/tableStyles" Target="/ppt/tableStyles.xml" Id="R557bbc4e93844de3" /><Relationship Type="http://schemas.openxmlformats.org/officeDocument/2006/relationships/slide" Target="/ppt/slides/slide1.xml" Id="R91055173ed454c45" /><Relationship Type="http://schemas.openxmlformats.org/officeDocument/2006/relationships/slide" Target="/ppt/slides/slide2.xml" Id="R6e5bd7edaa474714" /><Relationship Type="http://schemas.openxmlformats.org/officeDocument/2006/relationships/slide" Target="/ppt/slides/slide3.xml" Id="R4826955cc0514d14" /><Relationship Type="http://schemas.openxmlformats.org/officeDocument/2006/relationships/slide" Target="/ppt/slides/slide4.xml" Id="R067a572cdf4e45a3" /><Relationship Type="http://schemas.openxmlformats.org/officeDocument/2006/relationships/slide" Target="/ppt/slides/slide5.xml" Id="R2107e5c280a44632" /><Relationship Type="http://schemas.openxmlformats.org/officeDocument/2006/relationships/slide" Target="/ppt/slides/slide6.xml" Id="Rd22eaf3157164144" /><Relationship Type="http://schemas.openxmlformats.org/officeDocument/2006/relationships/slide" Target="/ppt/slides/slide7.xml" Id="R0dbe6e41b0b8411a" /><Relationship Type="http://schemas.openxmlformats.org/officeDocument/2006/relationships/slide" Target="/ppt/slides/slide8.xml" Id="R721619d07c8a4dfd" /><Relationship Type="http://schemas.openxmlformats.org/officeDocument/2006/relationships/slide" Target="/ppt/slides/slide9.xml" Id="Re539c6fd0c404238" /><Relationship Type="http://schemas.openxmlformats.org/officeDocument/2006/relationships/slide" Target="/ppt/slides/slide10.xml" Id="Rbbdca570c2a94e7e" /><Relationship Type="http://schemas.openxmlformats.org/officeDocument/2006/relationships/slide" Target="/ppt/slides/slide11.xml" Id="R36c5bd21d7854e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d2374818548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a74c582bab4b0f" /><Relationship Type="http://schemas.openxmlformats.org/officeDocument/2006/relationships/notesMaster" Target="/ppt/notesMasters/notesMaster1.xml" Id="Rb4147b288ea747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0a2cba1f4749d7" /><Relationship Type="http://schemas.openxmlformats.org/officeDocument/2006/relationships/notesMaster" Target="/ppt/notesMasters/notesMaster1.xml" Id="Re81e33d01f9f47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9171cc200d4b17" /><Relationship Type="http://schemas.openxmlformats.org/officeDocument/2006/relationships/notesMaster" Target="/ppt/notesMasters/notesMaster1.xml" Id="R2a6b955b62ae4a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e1e48edc044472" /><Relationship Type="http://schemas.openxmlformats.org/officeDocument/2006/relationships/notesMaster" Target="/ppt/notesMasters/notesMaster1.xml" Id="R3d3047a9e7d542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bb125bc844d59" /><Relationship Type="http://schemas.openxmlformats.org/officeDocument/2006/relationships/notesMaster" Target="/ppt/notesMasters/notesMaster1.xml" Id="R83d20c7e72fa4e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314bf0f095249f8" /><Relationship Type="http://schemas.openxmlformats.org/officeDocument/2006/relationships/notesMaster" Target="/ppt/notesMasters/notesMaster1.xml" Id="Rcc835ec677fc4f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807adee4744cec" /><Relationship Type="http://schemas.openxmlformats.org/officeDocument/2006/relationships/notesMaster" Target="/ppt/notesMasters/notesMaster1.xml" Id="Rdb165e988b594578"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165263156f42d2" /><Relationship Type="http://schemas.openxmlformats.org/officeDocument/2006/relationships/notesMaster" Target="/ppt/notesMasters/notesMaster1.xml" Id="R8defd20d7cfe41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b51dcd06dd40ab" /><Relationship Type="http://schemas.openxmlformats.org/officeDocument/2006/relationships/notesMaster" Target="/ppt/notesMasters/notesMaster1.xml" Id="R5ac32405141141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92e7ec22ff04948" /><Relationship Type="http://schemas.openxmlformats.org/officeDocument/2006/relationships/notesMaster" Target="/ppt/notesMasters/notesMaster1.xml" Id="Rfe0a1b9a5ebc44a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c00bd81dcf4791" /><Relationship Type="http://schemas.openxmlformats.org/officeDocument/2006/relationships/notesMaster" Target="/ppt/notesMasters/notesMaster1.xml" Id="R048c370a374547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An AI can generate a long solution, but a small part of it may decide the final answer. We will solve one short problem, then restart the AI at different points to see when the wrong answer becomes fixed. No machine-learning background is assumed. Sources: https://arxiv.org/abs/2403.01633 and https://proceedings.mlr.press/v267/li25at.html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audience about 15 seconds to solve the problem before walking through the two columns. With common difference d, consecutive terms differ by d. Thus a=d and the fourth term is 4d=8, so a=2. The Phi-3 response instead used T3=T2+2d, incorrectly counting two gaps between adjacent terms. Its answer was 16/5. This is an algebraic paraphrase of the response, not an exact quote. Source: https://proceedings.mlr.press/v267/li25at.html, Figure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language model produces one token at a time. Tokens are pieces of words or symbols. It samples a next token conditional on the prompt and all earlier tokens. To test commitment, take one finished response, keep only a prefix, and independently sample many new continuations. Repeat at different prefix lengths. The prefix below is a shortened pedagogical paraphrase of the arithmetic response. It is not a new measured experiment. Source: https://proceedings.mlr.press/v267/li25at.html, Section 2.2.1 and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original plot from Figure 5, enlarged without redrawing or inventing data. The horizontal axis is the fraction of the original response kept; larger means a later restart point. The vertical axis is the fraction of regenerated answers matching the original, incorrect answer 16/5. Between the displayed 0.3 and 0.5 prefix fractions, answer agreement rises sharply. The experiment localizes commitment to an interval, not necessarily a single token or the precise cause of the mistake. Source: https://proceedings.mlr.press/v267/li25at.html, Figure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fully specified hypothetical Bayes calculation, not an experimental result or a theorem that every LLM has two modes. Suppose the prior odds of mode A versus mode B are 1:99. Each observed clue has conditional likelihood ten times larger under A than B. Bayes multiplies the odds by ten for each clue. After k clues, P(A|clues)=10^k/(99+10^k). The displayed values are rounded percentages. Independence is unnecessary if each conditional likelihood ratio, given preceding clues, is ten. This shows how incremental observations can produce a fast change in a hidden mode probability. It does not mean the model literally computes these odds. Related motivation: https://proceedings.mlr.press/v267/li25at.html, Example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diffusion before the figure: a diffusion model generates an image by progressively removing noise. For the forward-reverse experiment, begin with a generated image, add a chosen amount of noise, then denoise again. The figure is a cartoon, not experimental data. A feature can be any property defining a group of outputs. At intermediate noise, the specific color can change while the cat feature remains. Source: https://proceedings.mlr.press/v267/li25at.html, Figure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and Chen, ICML 2024. The figure is the paper’s Stable Diffusion 2.1 experiment on 250 car images. The x-axis increases with the amount of noise added before regeneration. CLIP assesses agreement in color, size and background. The arrows mark the reported windows. The theoretical part bounds feature-preserving ranges for mixtures of strongly log-concave distributions with an ideal reverse process, with explicit estimates for well-conditioned Gaussian mixtures. A Gaussian is a bell-shaped cloud of points. Strong log-concavity is a more general single-cloud condition. The estimates depend on within-group and between-group separation, and lead to a hierarchy interpretation under additional separation assumptions. Real-image experiments illustrate the phenomenon but do not establish those assumptions. Source: https://arxiv.org/abs/2403.01633, Sections 4-7, Figure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states the intuition of the general theorem, not a claim that all distributions automatically have such a regime. Let A be a smaller population contained in B. If degraded A and B are close and degraded B and its complement remain distinguishable, regenerating with the full model from degraded A approximates B. For the cartoon, A is orange cats and B is all cats. Crucially, closeness is about the whole distribution of regenerated outputs, not just a single label. Source: https://proceedings.mlr.press/v267/li25at.html, Theorem 3.1; https://arxiv.org/abs/2403.01633, main theorem.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 Karan and Chen, ICML 2025. Start with the common experiment rather than introducing stochastic localization as jargon. The theory applies to Markov degradation and ideal posterior sampling, including Gaussian noising and right-to-left token masking. Proof sketch: applying the same reverse kernel to nearby observation distributions preserves closeness (data processing). Distinguishability keeps the average posterior leakage outside the target group small. Combine by the triangle inequality. Unlike the 2024 result, this does not require log-concavity and its error bound has no explicit ambient-dimension factor. Exact result, if requested: TV(q_t,p_B) ≤ epsilon(1+max(1,W)/sqrt(2)), where TV(p_A,t,p_B,t) ≤ epsilon, TV(p_B,t,p_complement,t) ≥ 1-epsilon^2, and W is outside/inside prior mass. TV is the largest event-probability difference. Sharp or nonempty windows require additional structure. Source: https://proceedings.mlr.press/v267/li25at.html, Theorem 3.1 and Section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fractions of MATH benchmark generations with a critical window: Llama-3.1-8B-Instruct 42.2%, Qwen-2.5-7B-Instruct 16.6%, Phi-3-7B-Instruct 30.2%. A critical window in this experiment means a jump greater than 0.5 in original-answer agreement between consecutive truncation fractions. Models are the Instruct variants, as listed in the paper. Generations with windows were less accurate in the reported experiments. This is an association and not proof that windows cause errors. Consistency measures agreement with the original answer, whether correct or incorrect. Source: https://proceedings.mlr.press/v267/li25at.html, Section 6 and 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opening question. Resampling at different points gives an operational way to locate commitment to an output property. The 2024 paper establishes geometric diffusion results. The 2025 paper gives a general framework for images and language. Neither the theorem nor the empirical observations guarantee every transition is sharp, or that every critical window is an error. Pose the final question as an open direction, not a demonstrated repair method. Full papers: https://arxiv.org/abs/2403.01633 and https://proceedings.mlr.press/v267/li25at.html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bfa8ae4b048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3518c7942a4503" /><Relationship Type="http://schemas.openxmlformats.org/officeDocument/2006/relationships/slideLayout" Target="/ppt/slideLayouts/slideLayout1.xml" Id="R2bdb1d4fde0f4f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db1d4fde0f4f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acc5dcaf7f4d80" /><Relationship Type="http://schemas.openxmlformats.org/officeDocument/2006/relationships/notesSlide" Target="/ppt/notesSlides/notesSlide1.xml" Id="Rec9abd7cf3bd45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1812fd6ed34735" /><Relationship Type="http://schemas.openxmlformats.org/officeDocument/2006/relationships/notesSlide" Target="/ppt/notesSlides/notesSlide2.xml" Id="R07c986500b8e47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d212461fa74d30" /><Relationship Type="http://schemas.openxmlformats.org/officeDocument/2006/relationships/notesSlide" Target="/ppt/notesSlides/notesSlide3.xml" Id="R742aa97077a7463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0836fa7f0954edc" /><Relationship Type="http://schemas.openxmlformats.org/officeDocument/2006/relationships/image" Target="/ppt/media/image.png" Id="Rbba04331774e45b1" /><Relationship Type="http://schemas.openxmlformats.org/officeDocument/2006/relationships/notesSlide" Target="/ppt/notesSlides/notesSlide4.xml" Id="Rd740fcb13a4a41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161b1c07044fb0" /><Relationship Type="http://schemas.openxmlformats.org/officeDocument/2006/relationships/chart" Target="/ppt/slides/charts/chart1.xml" Id="R46d96dfda2b844d4" /><Relationship Type="http://schemas.openxmlformats.org/officeDocument/2006/relationships/notesSlide" Target="/ppt/notesSlides/notesSlide5.xml" Id="R497fdd88a41d46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0f146262744881" /><Relationship Type="http://schemas.openxmlformats.org/officeDocument/2006/relationships/image" Target="/ppt/media/image2.png" Id="R88b83c838fc64520" /><Relationship Type="http://schemas.openxmlformats.org/officeDocument/2006/relationships/notesSlide" Target="/ppt/notesSlides/notesSlide6.xml" Id="Rf877ba8adcff43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69d03a7f364048" /><Relationship Type="http://schemas.openxmlformats.org/officeDocument/2006/relationships/image" Target="/ppt/media/image3.png" Id="R58c551d6ae464f8c" /><Relationship Type="http://schemas.openxmlformats.org/officeDocument/2006/relationships/notesSlide" Target="/ppt/notesSlides/notesSlide7.xml" Id="Rb8a4948e0e03410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ad354faa94b4b99" /><Relationship Type="http://schemas.openxmlformats.org/officeDocument/2006/relationships/notesSlide" Target="/ppt/notesSlides/notesSlide8.xml" Id="Rd1756f1344994b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967a3660274b60" /><Relationship Type="http://schemas.openxmlformats.org/officeDocument/2006/relationships/notesSlide" Target="/ppt/notesSlides/notesSlide9.xml" Id="Rebeaea594f764c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bbaf7c7bd9c4034" /><Relationship Type="http://schemas.openxmlformats.org/officeDocument/2006/relationships/chart" Target="/ppt/slides/charts/chart2.xml" Id="R3b79458dc76e47d7" /><Relationship Type="http://schemas.openxmlformats.org/officeDocument/2006/relationships/notesSlide" Target="/ppt/notesSlides/notesSlide10.xml" Id="Rbc72f0743d6744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fabfc1d9c34068" /><Relationship Type="http://schemas.openxmlformats.org/officeDocument/2006/relationships/notesSlide" Target="/ppt/notesSlides/notesSlide11.xml" Id="Ra04f890ff296423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Probability of A (%)</c:v>
          </c:tx>
          <c:spPr>
            <a:solidFill xmlns:a="http://schemas.openxmlformats.org/drawingml/2006/main">
              <a:srgbClr val="087E8B"/>
            </a:solidFill>
          </c:spPr>
          <c:marker>
            <c:symbol val="none"/>
          </c:marker>
          <c:cat>
            <c:strRef>
              <c:f>'Chart Data'!$A$2:$A$5</c:f>
              <c:strCache>
                <c:ptCount val="4"/>
                <c:pt idx="0">
                  <c:v>0 clues</c:v>
                </c:pt>
                <c:pt idx="1">
                  <c:v>1 clue</c:v>
                </c:pt>
                <c:pt idx="2">
                  <c:v>2 clues</c:v>
                </c:pt>
                <c:pt idx="3">
                  <c:v>3 clues</c:v>
                </c:pt>
              </c:strCache>
            </c:strRef>
          </c:cat>
          <c:val>
            <c:numRef>
              <c:f>'Chart Data'!$B$2:$B$5</c:f>
              <c:numCache>
                <c:formatCode>General</c:formatCode>
                <c:ptCount val="4"/>
                <c:pt idx="0">
                  <c:v>1</c:v>
                </c:pt>
                <c:pt idx="1">
                  <c:v>9.17</c:v>
                </c:pt>
                <c:pt idx="2">
                  <c:v>50.25</c:v>
                </c:pt>
                <c:pt idx="3">
                  <c:v>90.99</c:v>
                </c:pt>
              </c:numCache>
            </c:numRef>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Helvetica Neue"/>
                <a:ea typeface="Helvetica Neue"/>
                <a:cs typeface="Helvetica Neue"/>
              </a:defRPr>
            </a:pPr>
          </a:p>
        </c:txPr>
        <c:crossAx val="48672768"/>
      </c:catAx>
      <c:valAx>
        <c:axId val="48672768"/>
        <c:scaling>
          <c:orientation val="minMax"/>
          <c:max val="10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Helvetica Neue"/>
                <a:ea typeface="Helvetica Neue"/>
                <a:cs typeface="Helvetica Neue"/>
              </a:defRPr>
            </a:pPr>
          </a:p>
        </c:txPr>
        <c:crossAx val="48650112"/>
        <c:crossBetween val="between"/>
        <c:majorUnit val="5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Responses with a critical window (%)</c:v>
          </c:tx>
          <c:spPr>
            <a:solidFill xmlns:a="http://schemas.openxmlformats.org/drawingml/2006/main">
              <a:srgbClr val="087E8B"/>
            </a:solidFill>
          </c:spPr>
          <c:cat>
            <c:strRef>
              <c:f>'Chart Data'!$A$2:$A$4</c:f>
              <c:strCache>
                <c:ptCount val="3"/>
                <c:pt idx="0">
                  <c:v>Llama 3.1 8B</c:v>
                </c:pt>
                <c:pt idx="1">
                  <c:v>Qwen 2.5 7B</c:v>
                </c:pt>
                <c:pt idx="2">
                  <c:v>Phi 3 7B</c:v>
                </c:pt>
              </c:strCache>
            </c:strRef>
          </c:cat>
          <c:val>
            <c:numRef>
              <c:f>'Chart Data'!$B$2:$B$4</c:f>
              <c:numCache>
                <c:formatCode>General</c:formatCode>
                <c:ptCount val="3"/>
                <c:pt idx="0">
                  <c:v>42.2</c:v>
                </c:pt>
                <c:pt idx="1">
                  <c:v>16.6</c:v>
                </c:pt>
                <c:pt idx="2">
                  <c:v>30.2</c:v>
                </c:pt>
              </c:numCache>
            </c:numRef>
          </c:val>
        </c:ser>
        <c:dLbls>
          <c:txPr>
            <a:bodyPr xmlns:a="http://schemas.openxmlformats.org/drawingml/2006/main" anchorCtr="1"/>
            <a:lstStyle xmlns:a="http://schemas.openxmlformats.org/drawingml/2006/main"/>
            <a:p xmlns:a="http://schemas.openxmlformats.org/drawingml/2006/main">
              <a:pPr>
                <a:defRPr sz="2025" b="1">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Helvetica Neue"/>
                <a:ea typeface="Helvetica Neue"/>
                <a:cs typeface="Helvetica Neue"/>
              </a:defRPr>
            </a:pPr>
          </a:p>
        </c:txPr>
        <c:crossAx val="48672768"/>
      </c:catAx>
      <c:valAx>
        <c:axId val="48672768"/>
        <c:scaling>
          <c:orientation val="minMax"/>
          <c:max val="5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Helvetica Neue"/>
                <a:ea typeface="Helvetica Neue"/>
                <a:cs typeface="Helvetica Neue"/>
              </a:defRPr>
            </a:pPr>
          </a:p>
        </c:txPr>
        <c:crossAx val="48650112"/>
        <c:crossBetween val="between"/>
        <c:majorUnit val="25"/>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2C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9F34E0C-40D1-41B7-BDCC-180D1D6F963E}"/>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When does an AI</a:t>
            </a:r>
          </a:p>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commit to a wrong answer?</a:t>
            </a:r>
          </a:p>
        </p:txBody>
      </p:sp>
      <p:sp>
        <p:nvSpPr>
          <p:cNvPr id="2" name="">
            <a:extLst xmlns:a="http://schemas.openxmlformats.org/drawingml/2006/main">
              <a:ext uri="{FF2B5EF4-FFF2-40B4-BE49-F238E27FC236}">
                <a16:creationId xmlns:a16="http://schemas.microsoft.com/office/drawing/2014/main" id="{E3F04B42-EC2C-41E4-9993-1FB91D5AEC6A}"/>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F9F6AFA-DC68-41B8-A799-B76A0FEE6DE1}"/>
              </a:ext>
            </a:extLst>
          </p:cNvPr>
          <p:cNvSpPr>
            <a:spLocks xmlns:a="http://schemas.openxmlformats.org/drawingml/2006/main" noGrp="1"/>
          </p:cNvSpPr>
          <p:nvPr/>
        </p:nvSpPr>
        <p:spPr>
          <a:xfrm xmlns:a="http://schemas.openxmlformats.org/drawingml/2006/main">
            <a:off x="609600" y="26384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70D6D0"/>
                </a:solidFill>
                <a:latin typeface="Helvetica Neue"/>
                <a:ea typeface="Helvetica Neue"/>
                <a:cs typeface="Helvetica Neue"/>
              </a:defRPr>
            </a:pPr>
            <a:r>
              <a:rPr sz="2550" b="0">
                <a:solidFill>
                  <a:srgbClr val="70D6D0"/>
                </a:solidFill>
                <a:latin typeface="Helvetica Neue"/>
                <a:ea typeface="Helvetica Neue"/>
                <a:cs typeface="Helvetica Neue"/>
              </a:rPr>
              <a:t>Blink of an Eye &amp; Critical Windows</a:t>
            </a:r>
          </a:p>
        </p:txBody>
      </p:sp>
      <p:sp>
        <p:nvSpPr>
          <p:cNvPr id="4" name="">
            <a:extLst xmlns:a="http://schemas.openxmlformats.org/drawingml/2006/main">
              <a:ext uri="{FF2B5EF4-FFF2-40B4-BE49-F238E27FC236}">
                <a16:creationId xmlns:a16="http://schemas.microsoft.com/office/drawing/2014/main" id="{4EB46037-35B5-4499-A546-F3C3EB1DEFA1}"/>
              </a:ext>
            </a:extLst>
          </p:cNvPr>
          <p:cNvSpPr>
            <a:spLocks xmlns:a="http://schemas.openxmlformats.org/drawingml/2006/main" noGrp="1"/>
          </p:cNvSpPr>
          <p:nvPr/>
        </p:nvSpPr>
        <p:spPr>
          <a:xfrm xmlns:a="http://schemas.openxmlformats.org/drawingml/2006/main">
            <a:off x="609600" y="4229100"/>
            <a:ext cx="4286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Marvin Li</a:t>
            </a:r>
          </a:p>
          <a:p xmlns:a="http://schemas.openxmlformats.org/drawingml/2006/main">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HMMT</a:t>
            </a:r>
          </a:p>
        </p:txBody>
      </p:sp>
      <p:sp>
        <p:nvSpPr>
          <p:cNvPr id="5" name="">
            <a:extLst xmlns:a="http://schemas.openxmlformats.org/drawingml/2006/main">
              <a:ext uri="{FF2B5EF4-FFF2-40B4-BE49-F238E27FC236}">
                <a16:creationId xmlns:a16="http://schemas.microsoft.com/office/drawing/2014/main" id="{FD5D59B8-E030-4787-9ECE-35680325318D}"/>
              </a:ext>
            </a:extLst>
          </p:cNvPr>
          <p:cNvSpPr>
            <a:spLocks xmlns:a="http://schemas.openxmlformats.org/drawingml/2006/main" noGrp="1"/>
          </p:cNvSpPr>
          <p:nvPr/>
        </p:nvSpPr>
        <p:spPr>
          <a:xfrm xmlns:a="http://schemas.openxmlformats.org/drawingml/2006/main">
            <a:off x="609600" y="567690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CDAE2"/>
                </a:solidFill>
                <a:latin typeface="Helvetica Neue"/>
                <a:ea typeface="Helvetica Neue"/>
                <a:cs typeface="Helvetica Neue"/>
              </a:defRPr>
            </a:pPr>
            <a:r>
              <a:rPr sz="1800" b="0">
                <a:solidFill>
                  <a:srgbClr val="CCDAE2"/>
                </a:solidFill>
                <a:latin typeface="Helvetica Neue"/>
                <a:ea typeface="Helvetica Neue"/>
                <a:cs typeface="Helvetica Neue"/>
              </a:rPr>
              <a:t>With Sitan Chen (ICML 2024)</a:t>
            </a:r>
          </a:p>
          <a:p xmlns:a="http://schemas.openxmlformats.org/drawingml/2006/main">
            <a:pPr>
              <a:defRPr sz="1800" b="0">
                <a:solidFill>
                  <a:srgbClr val="CCDAE2"/>
                </a:solidFill>
                <a:latin typeface="Helvetica Neue"/>
                <a:ea typeface="Helvetica Neue"/>
                <a:cs typeface="Helvetica Neue"/>
              </a:defRPr>
            </a:pPr>
            <a:r>
              <a:rPr sz="1800" b="0">
                <a:solidFill>
                  <a:srgbClr val="CCDAE2"/>
                </a:solidFill>
                <a:latin typeface="Helvetica Neue"/>
                <a:ea typeface="Helvetica Neue"/>
                <a:cs typeface="Helvetica Neue"/>
              </a:rPr>
              <a:t>With Aayush Karan and Sitan Chen (ICML 2025)</a:t>
            </a:r>
          </a:p>
        </p:txBody>
      </p:sp>
    </p:spTree>
    <p:extLst>
      <p:ext uri="{BB962C8B-B14F-4D97-AF65-F5344CB8AC3E}">
        <p14:creationId xmlns:p14="http://schemas.microsoft.com/office/powerpoint/2010/main" val="1006100067"/>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76EB4C0-DEE4-4CBB-A4DA-2835B2F6FEDC}"/>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A one-line mistake changes the answer</a:t>
            </a:r>
          </a:p>
        </p:txBody>
      </p:sp>
      <p:sp>
        <p:nvSpPr>
          <p:cNvPr id="2" name="">
            <a:extLst xmlns:a="http://schemas.openxmlformats.org/drawingml/2006/main">
              <a:ext uri="{FF2B5EF4-FFF2-40B4-BE49-F238E27FC236}">
                <a16:creationId xmlns:a16="http://schemas.microsoft.com/office/drawing/2014/main" id="{97BF7A5A-C4A8-4DDE-AC1C-414A7BCC57AC}"/>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EF99A28B-93EB-45CD-87E1-985BEBBE0134}"/>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Blink of an Eye (2025), Figure 5. Model response paraphrased.</a:t>
            </a:r>
          </a:p>
        </p:txBody>
      </p:sp>
      <p:sp>
        <p:nvSpPr>
          <p:cNvPr id="4" name="">
            <a:extLst xmlns:a="http://schemas.openxmlformats.org/drawingml/2006/main">
              <a:ext uri="{FF2B5EF4-FFF2-40B4-BE49-F238E27FC236}">
                <a16:creationId xmlns:a16="http://schemas.microsoft.com/office/drawing/2014/main" id="{8BF9141B-0C17-4AF7-B849-440DED4DFF91}"/>
              </a:ext>
            </a:extLst>
          </p:cNvPr>
          <p:cNvSpPr>
            <a:spLocks xmlns:a="http://schemas.openxmlformats.org/drawingml/2006/main" noGrp="1"/>
          </p:cNvSpPr>
          <p:nvPr/>
        </p:nvSpPr>
        <p:spPr>
          <a:xfrm xmlns:a="http://schemas.openxmlformats.org/drawingml/2006/main">
            <a:off x="609600" y="15144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Arithmetic sequence: T₁ = T₃ − T₂ and T₄ = 8.</a:t>
            </a:r>
          </a:p>
        </p:txBody>
      </p:sp>
      <p:sp>
        <p:nvSpPr>
          <p:cNvPr id="5" name="">
            <a:extLst xmlns:a="http://schemas.openxmlformats.org/drawingml/2006/main">
              <a:ext uri="{FF2B5EF4-FFF2-40B4-BE49-F238E27FC236}">
                <a16:creationId xmlns:a16="http://schemas.microsoft.com/office/drawing/2014/main" id="{7EFB63B6-E9F1-4019-88F4-04C22EA475C6}"/>
              </a:ext>
            </a:extLst>
          </p:cNvPr>
          <p:cNvSpPr>
            <a:spLocks xmlns:a="http://schemas.openxmlformats.org/drawingml/2006/main" noGrp="1"/>
          </p:cNvSpPr>
          <p:nvPr/>
        </p:nvSpPr>
        <p:spPr>
          <a:xfrm xmlns:a="http://schemas.openxmlformats.org/drawingml/2006/main">
            <a:off x="609600" y="2095500"/>
            <a:ext cx="1076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74"/>
                </a:solidFill>
                <a:latin typeface="Helvetica Neue"/>
                <a:ea typeface="Helvetica Neue"/>
                <a:cs typeface="Helvetica Neue"/>
              </a:defRPr>
            </a:pPr>
            <a:r>
              <a:rPr sz="1725" b="0">
                <a:solidFill>
                  <a:srgbClr val="546674"/>
                </a:solidFill>
                <a:latin typeface="Helvetica Neue"/>
                <a:ea typeface="Helvetica Neue"/>
                <a:cs typeface="Helvetica Neue"/>
              </a:rPr>
              <a:t>a = first term. d = common difference.</a:t>
            </a:r>
          </a:p>
        </p:txBody>
      </p:sp>
      <p:sp>
        <p:nvSpPr>
          <p:cNvPr id="6" name="">
            <a:extLst xmlns:a="http://schemas.openxmlformats.org/drawingml/2006/main">
              <a:ext uri="{FF2B5EF4-FFF2-40B4-BE49-F238E27FC236}">
                <a16:creationId xmlns:a16="http://schemas.microsoft.com/office/drawing/2014/main" id="{AD3CA6B3-9255-4B35-8C7A-61F30B11B746}"/>
              </a:ext>
            </a:extLst>
          </p:cNvPr>
          <p:cNvSpPr>
            <a:spLocks xmlns:a="http://schemas.openxmlformats.org/drawingml/2006/main" noGrp="1"/>
          </p:cNvSpPr>
          <p:nvPr/>
        </p:nvSpPr>
        <p:spPr>
          <a:xfrm xmlns:a="http://schemas.openxmlformats.org/drawingml/2006/main">
            <a:off x="609600" y="24669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E8B"/>
                </a:solidFill>
                <a:latin typeface="Helvetica Neue"/>
                <a:ea typeface="Helvetica Neue"/>
                <a:cs typeface="Helvetica Neue"/>
              </a:defRPr>
            </a:pPr>
            <a:r>
              <a:rPr sz="2325" b="1">
                <a:solidFill>
                  <a:srgbClr val="087E8B"/>
                </a:solidFill>
                <a:latin typeface="Helvetica Neue"/>
                <a:ea typeface="Helvetica Neue"/>
                <a:cs typeface="Helvetica Neue"/>
              </a:rPr>
              <a:t>Correct calculation</a:t>
            </a:r>
          </a:p>
        </p:txBody>
      </p:sp>
      <p:sp>
        <p:nvSpPr>
          <p:cNvPr id="7" name="">
            <a:extLst xmlns:a="http://schemas.openxmlformats.org/drawingml/2006/main">
              <a:ext uri="{FF2B5EF4-FFF2-40B4-BE49-F238E27FC236}">
                <a16:creationId xmlns:a16="http://schemas.microsoft.com/office/drawing/2014/main" id="{E34A8310-5223-4304-95CC-A7FF15BFFFF5}"/>
              </a:ext>
            </a:extLst>
          </p:cNvPr>
          <p:cNvSpPr>
            <a:spLocks xmlns:a="http://schemas.openxmlformats.org/drawingml/2006/main" noGrp="1"/>
          </p:cNvSpPr>
          <p:nvPr/>
        </p:nvSpPr>
        <p:spPr>
          <a:xfrm xmlns:a="http://schemas.openxmlformats.org/drawingml/2006/main">
            <a:off x="609600" y="3209925"/>
            <a:ext cx="51911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a = (a + 2d) − (a + d)</a:t>
            </a:r>
          </a:p>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a = d</a:t>
            </a:r>
          </a:p>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8 = a + 3d = 4d</a:t>
            </a:r>
          </a:p>
        </p:txBody>
      </p:sp>
      <p:sp>
        <p:nvSpPr>
          <p:cNvPr id="8" name="">
            <a:extLst xmlns:a="http://schemas.openxmlformats.org/drawingml/2006/main">
              <a:ext uri="{FF2B5EF4-FFF2-40B4-BE49-F238E27FC236}">
                <a16:creationId xmlns:a16="http://schemas.microsoft.com/office/drawing/2014/main" id="{7605567A-1914-4E9D-88BC-306489F2FA28}"/>
              </a:ext>
            </a:extLst>
          </p:cNvPr>
          <p:cNvSpPr>
            <a:spLocks xmlns:a="http://schemas.openxmlformats.org/drawingml/2006/main" noGrp="1"/>
          </p:cNvSpPr>
          <p:nvPr/>
        </p:nvSpPr>
        <p:spPr>
          <a:xfrm xmlns:a="http://schemas.openxmlformats.org/drawingml/2006/main">
            <a:off x="609600" y="52482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E8B"/>
                </a:solidFill>
                <a:latin typeface="Helvetica Neue"/>
                <a:ea typeface="Helvetica Neue"/>
                <a:cs typeface="Helvetica Neue"/>
              </a:defRPr>
            </a:pPr>
            <a:r>
              <a:rPr sz="3600" b="1">
                <a:solidFill>
                  <a:srgbClr val="087E8B"/>
                </a:solidFill>
                <a:latin typeface="Helvetica Neue"/>
                <a:ea typeface="Helvetica Neue"/>
                <a:cs typeface="Helvetica Neue"/>
              </a:rPr>
              <a:t>a = 2</a:t>
            </a:r>
          </a:p>
        </p:txBody>
      </p:sp>
      <p:sp>
        <p:nvSpPr>
          <p:cNvPr id="9" name="">
            <a:extLst xmlns:a="http://schemas.openxmlformats.org/drawingml/2006/main">
              <a:ext uri="{FF2B5EF4-FFF2-40B4-BE49-F238E27FC236}">
                <a16:creationId xmlns:a16="http://schemas.microsoft.com/office/drawing/2014/main" id="{96BCC21E-89B0-4E64-98B4-1EB845A40D93}"/>
              </a:ext>
            </a:extLst>
          </p:cNvPr>
          <p:cNvSpPr>
            <a:spLocks xmlns:a="http://schemas.openxmlformats.org/drawingml/2006/main" noGrp="1"/>
          </p:cNvSpPr>
          <p:nvPr/>
        </p:nvSpPr>
        <p:spPr>
          <a:xfrm xmlns:a="http://schemas.openxmlformats.org/drawingml/2006/main">
            <a:off x="6543675" y="2466975"/>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23D33"/>
                </a:solidFill>
                <a:latin typeface="Helvetica Neue"/>
                <a:ea typeface="Helvetica Neue"/>
                <a:cs typeface="Helvetica Neue"/>
              </a:defRPr>
            </a:pPr>
            <a:r>
              <a:rPr sz="2325" b="1">
                <a:solidFill>
                  <a:srgbClr val="B23D33"/>
                </a:solidFill>
                <a:latin typeface="Helvetica Neue"/>
                <a:ea typeface="Helvetica Neue"/>
                <a:cs typeface="Helvetica Neue"/>
              </a:rPr>
              <a:t>The model’s calculation</a:t>
            </a:r>
          </a:p>
        </p:txBody>
      </p:sp>
      <p:sp>
        <p:nvSpPr>
          <p:cNvPr id="10" name="">
            <a:extLst xmlns:a="http://schemas.openxmlformats.org/drawingml/2006/main">
              <a:ext uri="{FF2B5EF4-FFF2-40B4-BE49-F238E27FC236}">
                <a16:creationId xmlns:a16="http://schemas.microsoft.com/office/drawing/2014/main" id="{0663AEE0-3880-44A7-A154-65555F01FB4C}"/>
              </a:ext>
            </a:extLst>
          </p:cNvPr>
          <p:cNvSpPr>
            <a:spLocks xmlns:a="http://schemas.openxmlformats.org/drawingml/2006/main" noGrp="1"/>
          </p:cNvSpPr>
          <p:nvPr/>
        </p:nvSpPr>
        <p:spPr>
          <a:xfrm xmlns:a="http://schemas.openxmlformats.org/drawingml/2006/main">
            <a:off x="6543675" y="3209925"/>
            <a:ext cx="5048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T₃ = T₂ + 2d</a:t>
            </a:r>
          </a:p>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a = 2d</a:t>
            </a:r>
          </a:p>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8 = a + 3d = 5d</a:t>
            </a:r>
          </a:p>
        </p:txBody>
      </p:sp>
      <p:sp>
        <p:nvSpPr>
          <p:cNvPr id="11" name="">
            <a:extLst xmlns:a="http://schemas.openxmlformats.org/drawingml/2006/main">
              <a:ext uri="{FF2B5EF4-FFF2-40B4-BE49-F238E27FC236}">
                <a16:creationId xmlns:a16="http://schemas.microsoft.com/office/drawing/2014/main" id="{EAA0BDFB-F3C9-4845-9EF2-B6DB7C2D05BC}"/>
              </a:ext>
            </a:extLst>
          </p:cNvPr>
          <p:cNvSpPr>
            <a:spLocks xmlns:a="http://schemas.openxmlformats.org/drawingml/2006/main" noGrp="1"/>
          </p:cNvSpPr>
          <p:nvPr/>
        </p:nvSpPr>
        <p:spPr>
          <a:xfrm xmlns:a="http://schemas.openxmlformats.org/drawingml/2006/main">
            <a:off x="6543675" y="524827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B23D33"/>
                </a:solidFill>
                <a:latin typeface="Helvetica Neue"/>
                <a:ea typeface="Helvetica Neue"/>
                <a:cs typeface="Helvetica Neue"/>
              </a:defRPr>
            </a:pPr>
            <a:r>
              <a:rPr sz="3600" b="1">
                <a:solidFill>
                  <a:srgbClr val="B23D33"/>
                </a:solidFill>
                <a:latin typeface="Helvetica Neue"/>
                <a:ea typeface="Helvetica Neue"/>
                <a:cs typeface="Helvetica Neue"/>
              </a:rPr>
              <a:t>a = 16/5</a:t>
            </a:r>
          </a:p>
        </p:txBody>
      </p:sp>
    </p:spTree>
    <p:extLst>
      <p:ext uri="{BB962C8B-B14F-4D97-AF65-F5344CB8AC3E}">
        <p14:creationId xmlns:p14="http://schemas.microsoft.com/office/powerpoint/2010/main" val="800692468"/>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E874A7-B813-46E5-A4D4-E14796A93DF5}"/>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Restart the model from an unfinished solution</a:t>
            </a:r>
          </a:p>
        </p:txBody>
      </p:sp>
      <p:sp>
        <p:nvSpPr>
          <p:cNvPr id="2" name="">
            <a:extLst xmlns:a="http://schemas.openxmlformats.org/drawingml/2006/main">
              <a:ext uri="{FF2B5EF4-FFF2-40B4-BE49-F238E27FC236}">
                <a16:creationId xmlns:a16="http://schemas.microsoft.com/office/drawing/2014/main" id="{E0EBCE9C-3925-45BD-B3FF-06CD2F9C3D19}"/>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A39B5E4-A1BE-42A4-A9D5-0A43A610B9A1}"/>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Method: Blink of an Eye (2025), Sections 2 and 6</a:t>
            </a:r>
          </a:p>
        </p:txBody>
      </p:sp>
      <p:sp>
        <p:nvSpPr>
          <p:cNvPr id="4" name="">
            <a:extLst xmlns:a="http://schemas.openxmlformats.org/drawingml/2006/main">
              <a:ext uri="{FF2B5EF4-FFF2-40B4-BE49-F238E27FC236}">
                <a16:creationId xmlns:a16="http://schemas.microsoft.com/office/drawing/2014/main" id="{BCFEF825-E8A2-4637-9199-00A32F259F30}"/>
              </a:ext>
            </a:extLst>
          </p:cNvPr>
          <p:cNvSpPr>
            <a:spLocks xmlns:a="http://schemas.openxmlformats.org/drawingml/2006/main" noGrp="1"/>
          </p:cNvSpPr>
          <p:nvPr/>
        </p:nvSpPr>
        <p:spPr>
          <a:xfrm xmlns:a="http://schemas.openxmlformats.org/drawingml/2006/main">
            <a:off x="609600" y="15811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A language model repeatedly samples the next piece of text.</a:t>
            </a:r>
          </a:p>
        </p:txBody>
      </p:sp>
      <p:sp>
        <p:nvSpPr>
          <p:cNvPr id="5" name="">
            <a:extLst xmlns:a="http://schemas.openxmlformats.org/drawingml/2006/main">
              <a:ext uri="{FF2B5EF4-FFF2-40B4-BE49-F238E27FC236}">
                <a16:creationId xmlns:a16="http://schemas.microsoft.com/office/drawing/2014/main" id="{F4FA8528-4F2A-4DF8-9B12-4C8B01FC4D92}"/>
              </a:ext>
            </a:extLst>
          </p:cNvPr>
          <p:cNvSpPr>
            <a:spLocks xmlns:a="http://schemas.openxmlformats.org/drawingml/2006/main" noGrp="1"/>
          </p:cNvSpPr>
          <p:nvPr/>
        </p:nvSpPr>
        <p:spPr>
          <a:xfrm xmlns:a="http://schemas.openxmlformats.org/drawingml/2006/main">
            <a:off x="609600" y="28670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46674"/>
                </a:solidFill>
                <a:latin typeface="Helvetica Neue"/>
                <a:ea typeface="Helvetica Neue"/>
                <a:cs typeface="Helvetica Neue"/>
              </a:defRPr>
            </a:pPr>
            <a:r>
              <a:rPr sz="1950" b="0">
                <a:solidFill>
                  <a:srgbClr val="546674"/>
                </a:solidFill>
                <a:latin typeface="Helvetica Neue"/>
                <a:ea typeface="Helvetica Neue"/>
                <a:cs typeface="Helvetica Neue"/>
              </a:rPr>
              <a:t>Keep this prefix</a:t>
            </a:r>
          </a:p>
        </p:txBody>
      </p:sp>
      <p:sp>
        <p:nvSpPr>
          <p:cNvPr id="6" name="">
            <a:extLst xmlns:a="http://schemas.openxmlformats.org/drawingml/2006/main">
              <a:ext uri="{FF2B5EF4-FFF2-40B4-BE49-F238E27FC236}">
                <a16:creationId xmlns:a16="http://schemas.microsoft.com/office/drawing/2014/main" id="{20C88CAF-A424-449F-BAE7-C7B1CA3CD87B}"/>
              </a:ext>
            </a:extLst>
          </p:cNvPr>
          <p:cNvSpPr>
            <a:spLocks xmlns:a="http://schemas.openxmlformats.org/drawingml/2006/main" noGrp="1"/>
          </p:cNvSpPr>
          <p:nvPr/>
        </p:nvSpPr>
        <p:spPr>
          <a:xfrm xmlns:a="http://schemas.openxmlformats.org/drawingml/2006/main">
            <a:off x="609600" y="3429000"/>
            <a:ext cx="10763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E8B"/>
                </a:solidFill>
                <a:latin typeface="Helvetica Neue"/>
                <a:ea typeface="Helvetica Neue"/>
                <a:cs typeface="Helvetica Neue"/>
              </a:defRPr>
            </a:pPr>
            <a:r>
              <a:rPr sz="2850" b="1">
                <a:solidFill>
                  <a:srgbClr val="087E8B"/>
                </a:solidFill>
                <a:latin typeface="Helvetica Neue"/>
                <a:ea typeface="Helvetica Neue"/>
                <a:cs typeface="Helvetica Neue"/>
              </a:rPr>
              <a:t>“Let the common difference be d.</a:t>
            </a:r>
          </a:p>
          <a:p xmlns:a="http://schemas.openxmlformats.org/drawingml/2006/main">
            <a:pPr>
              <a:defRPr sz="2850" b="1">
                <a:solidFill>
                  <a:srgbClr val="087E8B"/>
                </a:solidFill>
                <a:latin typeface="Helvetica Neue"/>
                <a:ea typeface="Helvetica Neue"/>
                <a:cs typeface="Helvetica Neue"/>
              </a:defRPr>
            </a:pPr>
            <a:r>
              <a:rPr sz="2850" b="1">
                <a:solidFill>
                  <a:srgbClr val="087E8B"/>
                </a:solidFill>
                <a:latin typeface="Helvetica Neue"/>
                <a:ea typeface="Helvetica Neue"/>
                <a:cs typeface="Helvetica Neue"/>
              </a:rPr>
              <a:t>The first term equals the third minus the second…”</a:t>
            </a:r>
          </a:p>
        </p:txBody>
      </p:sp>
      <p:sp>
        <p:nvSpPr>
          <p:cNvPr id="7" name="">
            <a:extLst xmlns:a="http://schemas.openxmlformats.org/drawingml/2006/main">
              <a:ext uri="{FF2B5EF4-FFF2-40B4-BE49-F238E27FC236}">
                <a16:creationId xmlns:a16="http://schemas.microsoft.com/office/drawing/2014/main" id="{C655F763-E45A-4AE5-98B0-5BF05DF46BA6}"/>
              </a:ext>
            </a:extLst>
          </p:cNvPr>
          <p:cNvSpPr>
            <a:spLocks xmlns:a="http://schemas.openxmlformats.org/drawingml/2006/main" noGrp="1"/>
          </p:cNvSpPr>
          <p:nvPr/>
        </p:nvSpPr>
        <p:spPr>
          <a:xfrm xmlns:a="http://schemas.openxmlformats.org/drawingml/2006/main">
            <a:off x="609600" y="5143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Generate many new endings.</a:t>
            </a:r>
          </a:p>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How often does the answer still equal 16/5?</a:t>
            </a:r>
          </a:p>
        </p:txBody>
      </p:sp>
    </p:spTree>
    <p:extLst>
      <p:ext uri="{BB962C8B-B14F-4D97-AF65-F5344CB8AC3E}">
        <p14:creationId xmlns:p14="http://schemas.microsoft.com/office/powerpoint/2010/main" val="610254687"/>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A3653F-7E79-4228-8D46-118FB7DA0B5E}"/>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A short interval fixes the wrong answer</a:t>
            </a:r>
          </a:p>
        </p:txBody>
      </p:sp>
      <p:sp>
        <p:nvSpPr>
          <p:cNvPr id="2" name="">
            <a:extLst xmlns:a="http://schemas.openxmlformats.org/drawingml/2006/main">
              <a:ext uri="{FF2B5EF4-FFF2-40B4-BE49-F238E27FC236}">
                <a16:creationId xmlns:a16="http://schemas.microsoft.com/office/drawing/2014/main" id="{517C7682-F46E-4B66-8B51-F26AC77DCE56}"/>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7D406B8-AB21-4208-B86B-E234E87CC1B8}"/>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Observed result: Blink of an Eye (2025), Figure 5</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ba04331774e45b1"/>
          <a:stretch xmlns:a="http://schemas.openxmlformats.org/drawingml/2006/main"/>
        </p:blipFill>
        <p:spPr>
          <a:xfrm xmlns:a="http://schemas.openxmlformats.org/drawingml/2006/main">
            <a:off x="1473422" y="1562100"/>
            <a:ext cx="3844481" cy="4429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61F6341-F7B6-45AF-8012-F085474484A1}"/>
              </a:ext>
            </a:extLst>
          </p:cNvPr>
          <p:cNvSpPr>
            <a:spLocks xmlns:a="http://schemas.openxmlformats.org/drawingml/2006/main" noGrp="1"/>
          </p:cNvSpPr>
          <p:nvPr/>
        </p:nvSpPr>
        <p:spPr>
          <a:xfrm xmlns:a="http://schemas.openxmlformats.org/drawingml/2006/main">
            <a:off x="6810375" y="20002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2C3C"/>
                </a:solidFill>
                <a:latin typeface="Helvetica Neue"/>
                <a:ea typeface="Helvetica Neue"/>
                <a:cs typeface="Helvetica Neue"/>
              </a:defRPr>
            </a:pPr>
            <a:r>
              <a:rPr sz="2475" b="0">
                <a:solidFill>
                  <a:srgbClr val="172C3C"/>
                </a:solidFill>
                <a:latin typeface="Helvetica Neue"/>
                <a:ea typeface="Helvetica Neue"/>
                <a:cs typeface="Helvetica Neue"/>
              </a:rPr>
              <a:t>Keep about 30%</a:t>
            </a:r>
          </a:p>
          <a:p xmlns:a="http://schemas.openxmlformats.org/drawingml/2006/main">
            <a:pPr>
              <a:defRPr sz="2475" b="0">
                <a:solidFill>
                  <a:srgbClr val="172C3C"/>
                </a:solidFill>
                <a:latin typeface="Helvetica Neue"/>
                <a:ea typeface="Helvetica Neue"/>
                <a:cs typeface="Helvetica Neue"/>
              </a:defRPr>
            </a:pPr>
            <a:r>
              <a:rPr sz="2475" b="0">
                <a:solidFill>
                  <a:srgbClr val="172C3C"/>
                </a:solidFill>
                <a:latin typeface="Helvetica Neue"/>
                <a:ea typeface="Helvetica Neue"/>
                <a:cs typeface="Helvetica Neue"/>
              </a:rPr>
              <a:t>The answer can change.</a:t>
            </a:r>
          </a:p>
        </p:txBody>
      </p:sp>
      <p:sp>
        <p:nvSpPr>
          <p:cNvPr id="6" name="">
            <a:extLst xmlns:a="http://schemas.openxmlformats.org/drawingml/2006/main">
              <a:ext uri="{FF2B5EF4-FFF2-40B4-BE49-F238E27FC236}">
                <a16:creationId xmlns:a16="http://schemas.microsoft.com/office/drawing/2014/main" id="{B09DFB4F-B7AF-4872-A190-CFC4768F7479}"/>
              </a:ext>
            </a:extLst>
          </p:cNvPr>
          <p:cNvSpPr>
            <a:spLocks xmlns:a="http://schemas.openxmlformats.org/drawingml/2006/main" noGrp="1"/>
          </p:cNvSpPr>
          <p:nvPr/>
        </p:nvSpPr>
        <p:spPr>
          <a:xfrm xmlns:a="http://schemas.openxmlformats.org/drawingml/2006/main">
            <a:off x="6810375" y="3400425"/>
            <a:ext cx="461962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B23D33"/>
                </a:solidFill>
                <a:latin typeface="Helvetica Neue"/>
                <a:ea typeface="Helvetica Neue"/>
                <a:cs typeface="Helvetica Neue"/>
              </a:defRPr>
            </a:pPr>
            <a:r>
              <a:rPr sz="2475" b="1">
                <a:solidFill>
                  <a:srgbClr val="B23D33"/>
                </a:solidFill>
                <a:latin typeface="Helvetica Neue"/>
                <a:ea typeface="Helvetica Neue"/>
                <a:cs typeface="Helvetica Neue"/>
              </a:rPr>
              <a:t>Keep about 50%</a:t>
            </a:r>
          </a:p>
          <a:p xmlns:a="http://schemas.openxmlformats.org/drawingml/2006/main">
            <a:pPr>
              <a:defRPr sz="2475" b="1">
                <a:solidFill>
                  <a:srgbClr val="B23D33"/>
                </a:solidFill>
                <a:latin typeface="Helvetica Neue"/>
                <a:ea typeface="Helvetica Neue"/>
                <a:cs typeface="Helvetica Neue"/>
              </a:defRPr>
            </a:pPr>
            <a:r>
              <a:rPr sz="2475" b="1">
                <a:solidFill>
                  <a:srgbClr val="B23D33"/>
                </a:solidFill>
                <a:latin typeface="Helvetica Neue"/>
                <a:ea typeface="Helvetica Neue"/>
                <a:cs typeface="Helvetica Neue"/>
              </a:rPr>
              <a:t>Almost every continuation</a:t>
            </a:r>
          </a:p>
          <a:p xmlns:a="http://schemas.openxmlformats.org/drawingml/2006/main">
            <a:pPr>
              <a:defRPr sz="2475" b="1">
                <a:solidFill>
                  <a:srgbClr val="B23D33"/>
                </a:solidFill>
                <a:latin typeface="Helvetica Neue"/>
                <a:ea typeface="Helvetica Neue"/>
                <a:cs typeface="Helvetica Neue"/>
              </a:defRPr>
            </a:pPr>
            <a:r>
              <a:rPr sz="2475" b="1">
                <a:solidFill>
                  <a:srgbClr val="B23D33"/>
                </a:solidFill>
                <a:latin typeface="Helvetica Neue"/>
                <a:ea typeface="Helvetica Neue"/>
                <a:cs typeface="Helvetica Neue"/>
              </a:rPr>
              <a:t>returns the same wrong answer.</a:t>
            </a:r>
          </a:p>
        </p:txBody>
      </p:sp>
      <p:sp>
        <p:nvSpPr>
          <p:cNvPr id="7" name="">
            <a:extLst xmlns:a="http://schemas.openxmlformats.org/drawingml/2006/main">
              <a:ext uri="{FF2B5EF4-FFF2-40B4-BE49-F238E27FC236}">
                <a16:creationId xmlns:a16="http://schemas.microsoft.com/office/drawing/2014/main" id="{92CDD645-4FC9-4F50-B0E1-4712DC219673}"/>
              </a:ext>
            </a:extLst>
          </p:cNvPr>
          <p:cNvSpPr>
            <a:spLocks xmlns:a="http://schemas.openxmlformats.org/drawingml/2006/main" noGrp="1"/>
          </p:cNvSpPr>
          <p:nvPr/>
        </p:nvSpPr>
        <p:spPr>
          <a:xfrm xmlns:a="http://schemas.openxmlformats.org/drawingml/2006/main">
            <a:off x="6810375" y="5324475"/>
            <a:ext cx="4619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E8B"/>
                </a:solidFill>
                <a:latin typeface="Helvetica Neue"/>
                <a:ea typeface="Helvetica Neue"/>
                <a:cs typeface="Helvetica Neue"/>
              </a:defRPr>
            </a:pPr>
            <a:r>
              <a:rPr sz="2475" b="1">
                <a:solidFill>
                  <a:srgbClr val="087E8B"/>
                </a:solidFill>
                <a:latin typeface="Helvetica Neue"/>
                <a:ea typeface="Helvetica Neue"/>
                <a:cs typeface="Helvetica Neue"/>
              </a:rPr>
              <a:t>This transition is a critical window.</a:t>
            </a:r>
          </a:p>
        </p:txBody>
      </p:sp>
    </p:spTree>
    <p:extLst>
      <p:ext uri="{BB962C8B-B14F-4D97-AF65-F5344CB8AC3E}">
        <p14:creationId xmlns:p14="http://schemas.microsoft.com/office/powerpoint/2010/main" val="2132370665"/>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F0AE1CC-B718-4F9E-9A78-9E2B68E1D1BC}"/>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A few clues can change the odds sharply</a:t>
            </a:r>
          </a:p>
        </p:txBody>
      </p:sp>
      <p:sp>
        <p:nvSpPr>
          <p:cNvPr id="2" name="">
            <a:extLst xmlns:a="http://schemas.openxmlformats.org/drawingml/2006/main">
              <a:ext uri="{FF2B5EF4-FFF2-40B4-BE49-F238E27FC236}">
                <a16:creationId xmlns:a16="http://schemas.microsoft.com/office/drawing/2014/main" id="{6C8CC547-3423-49E9-9F68-2C54E823F367}"/>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442D2615-DD1B-4725-8374-DA4A6199626A}"/>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Illustrative Bayes calculation, not model measurements</a:t>
            </a:r>
          </a:p>
        </p:txBody>
      </p:sp>
      <p:sp>
        <p:nvSpPr>
          <p:cNvPr id="4" name="">
            <a:extLst xmlns:a="http://schemas.openxmlformats.org/drawingml/2006/main">
              <a:ext uri="{FF2B5EF4-FFF2-40B4-BE49-F238E27FC236}">
                <a16:creationId xmlns:a16="http://schemas.microsoft.com/office/drawing/2014/main" id="{F3BC905A-7BE1-4186-AD91-7FBC4B23B819}"/>
              </a:ext>
            </a:extLst>
          </p:cNvPr>
          <p:cNvSpPr>
            <a:spLocks xmlns:a="http://schemas.openxmlformats.org/drawingml/2006/main" noGrp="1"/>
          </p:cNvSpPr>
          <p:nvPr/>
        </p:nvSpPr>
        <p:spPr>
          <a:xfrm xmlns:a="http://schemas.openxmlformats.org/drawingml/2006/main">
            <a:off x="609600" y="15525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C3C"/>
                </a:solidFill>
                <a:latin typeface="Helvetica Neue"/>
                <a:ea typeface="Helvetica Neue"/>
                <a:cs typeface="Helvetica Neue"/>
              </a:defRPr>
            </a:pPr>
            <a:r>
              <a:rPr sz="2250" b="0">
                <a:solidFill>
                  <a:srgbClr val="172C3C"/>
                </a:solidFill>
                <a:latin typeface="Helvetica Neue"/>
                <a:ea typeface="Helvetica Neue"/>
                <a:cs typeface="Helvetica Neue"/>
              </a:rPr>
              <a:t>Two possible modes: A and B. Start with odds A:B = 1:99.</a:t>
            </a:r>
          </a:p>
        </p:txBody>
      </p:sp>
      <p:sp>
        <p:nvSpPr>
          <p:cNvPr id="5" name="">
            <a:extLst xmlns:a="http://schemas.openxmlformats.org/drawingml/2006/main">
              <a:ext uri="{FF2B5EF4-FFF2-40B4-BE49-F238E27FC236}">
                <a16:creationId xmlns:a16="http://schemas.microsoft.com/office/drawing/2014/main" id="{EB642090-71E0-4BDA-B719-ED376754453C}"/>
              </a:ext>
            </a:extLst>
          </p:cNvPr>
          <p:cNvSpPr>
            <a:spLocks xmlns:a="http://schemas.openxmlformats.org/drawingml/2006/main" noGrp="1"/>
          </p:cNvSpPr>
          <p:nvPr/>
        </p:nvSpPr>
        <p:spPr>
          <a:xfrm xmlns:a="http://schemas.openxmlformats.org/drawingml/2006/main">
            <a:off x="609600" y="21717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C3C"/>
                </a:solidFill>
                <a:latin typeface="Helvetica Neue"/>
                <a:ea typeface="Helvetica Neue"/>
                <a:cs typeface="Helvetica Neue"/>
              </a:defRPr>
            </a:pPr>
            <a:r>
              <a:rPr sz="2250" b="0">
                <a:solidFill>
                  <a:srgbClr val="172C3C"/>
                </a:solidFill>
                <a:latin typeface="Helvetica Neue"/>
                <a:ea typeface="Helvetica Neue"/>
                <a:cs typeface="Helvetica Neue"/>
              </a:rPr>
              <a:t>Each new clue is 10× as likely under A as under B.</a:t>
            </a:r>
          </a:p>
        </p:txBody>
      </p:sp>
      <p:graphicFrame>
        <p:nvGraphicFramePr>
          <p:cNvPr id="15" name="Chart"/>
          <p:cNvGraphicFramePr/>
          <p:nvPr/>
        </p:nvGraphicFramePr>
        <p:xfrm>
          <a:off xmlns:a="http://schemas.openxmlformats.org/drawingml/2006/main" x="609600" y="3048000"/>
          <a:ext xmlns:a="http://schemas.openxmlformats.org/drawingml/2006/main" cx="7143750" cy="2714625"/>
        </p:xfrm>
        <a:graphic xmlns:a="http://schemas.openxmlformats.org/drawingml/2006/main">
          <a:graphicData uri="http://schemas.openxmlformats.org/drawingml/2006/chart">
            <c:chart xmlns:r="http://schemas.openxmlformats.org/officeDocument/2006/relationships" xmlns:c="http://schemas.openxmlformats.org/drawingml/2006/chart" r:id="R46d96dfda2b844d4"/>
          </a:graphicData>
        </a:graphic>
      </p:graphicFrame>
      <p:sp>
        <p:nvSpPr>
          <p:cNvPr id="7" name="">
            <a:extLst xmlns:a="http://schemas.openxmlformats.org/drawingml/2006/main">
              <a:ext uri="{FF2B5EF4-FFF2-40B4-BE49-F238E27FC236}">
                <a16:creationId xmlns:a16="http://schemas.microsoft.com/office/drawing/2014/main" id="{69C597C9-637A-4A27-A3B5-3273A5AA2A91}"/>
              </a:ext>
            </a:extLst>
          </p:cNvPr>
          <p:cNvSpPr>
            <a:spLocks xmlns:a="http://schemas.openxmlformats.org/drawingml/2006/main" noGrp="1"/>
          </p:cNvSpPr>
          <p:nvPr/>
        </p:nvSpPr>
        <p:spPr>
          <a:xfrm xmlns:a="http://schemas.openxmlformats.org/drawingml/2006/main">
            <a:off x="8382000" y="3181350"/>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E8B"/>
                </a:solidFill>
                <a:latin typeface="Helvetica Neue"/>
                <a:ea typeface="Helvetica Neue"/>
                <a:cs typeface="Helvetica Neue"/>
              </a:defRPr>
            </a:pPr>
            <a:r>
              <a:rPr sz="2325" b="1">
                <a:solidFill>
                  <a:srgbClr val="087E8B"/>
                </a:solidFill>
                <a:latin typeface="Helvetica Neue"/>
                <a:ea typeface="Helvetica Neue"/>
                <a:cs typeface="Helvetica Neue"/>
              </a:rPr>
              <a:t>Odds multiply</a:t>
            </a:r>
          </a:p>
        </p:txBody>
      </p:sp>
      <p:sp>
        <p:nvSpPr>
          <p:cNvPr id="8" name="">
            <a:extLst xmlns:a="http://schemas.openxmlformats.org/drawingml/2006/main">
              <a:ext uri="{FF2B5EF4-FFF2-40B4-BE49-F238E27FC236}">
                <a16:creationId xmlns:a16="http://schemas.microsoft.com/office/drawing/2014/main" id="{94B859D1-E883-4CCD-AFB4-518C722F3F17}"/>
              </a:ext>
            </a:extLst>
          </p:cNvPr>
          <p:cNvSpPr>
            <a:spLocks xmlns:a="http://schemas.openxmlformats.org/drawingml/2006/main" noGrp="1"/>
          </p:cNvSpPr>
          <p:nvPr/>
        </p:nvSpPr>
        <p:spPr>
          <a:xfrm xmlns:a="http://schemas.openxmlformats.org/drawingml/2006/main">
            <a:off x="8382000" y="3914775"/>
            <a:ext cx="30480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1:99 (1%)</a:t>
            </a:r>
          </a:p>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10:99 (9%)</a:t>
            </a:r>
          </a:p>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100:99 (50%)</a:t>
            </a:r>
          </a:p>
          <a:p xmlns:a="http://schemas.openxmlformats.org/drawingml/2006/main">
            <a:pPr>
              <a:defRPr sz="2550" b="0">
                <a:solidFill>
                  <a:srgbClr val="172C3C"/>
                </a:solidFill>
                <a:latin typeface="Helvetica Neue"/>
                <a:ea typeface="Helvetica Neue"/>
                <a:cs typeface="Helvetica Neue"/>
              </a:defRPr>
            </a:pPr>
            <a:r>
              <a:rPr sz="2550" b="0">
                <a:solidFill>
                  <a:srgbClr val="172C3C"/>
                </a:solidFill>
                <a:latin typeface="Helvetica Neue"/>
                <a:ea typeface="Helvetica Neue"/>
                <a:cs typeface="Helvetica Neue"/>
              </a:rPr>
              <a:t>1000:99 (91%)</a:t>
            </a:r>
          </a:p>
        </p:txBody>
      </p:sp>
      <p:sp>
        <p:nvSpPr>
          <p:cNvPr id="9" name="">
            <a:extLst xmlns:a="http://schemas.openxmlformats.org/drawingml/2006/main">
              <a:ext uri="{FF2B5EF4-FFF2-40B4-BE49-F238E27FC236}">
                <a16:creationId xmlns:a16="http://schemas.microsoft.com/office/drawing/2014/main" id="{5D8AC371-D9B8-4620-8261-3B69BB5DC2EE}"/>
              </a:ext>
            </a:extLst>
          </p:cNvPr>
          <p:cNvSpPr>
            <a:spLocks xmlns:a="http://schemas.openxmlformats.org/drawingml/2006/main" noGrp="1"/>
          </p:cNvSpPr>
          <p:nvPr/>
        </p:nvSpPr>
        <p:spPr>
          <a:xfrm xmlns:a="http://schemas.openxmlformats.org/drawingml/2006/main">
            <a:off x="609600" y="2800350"/>
            <a:ext cx="695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6674"/>
                </a:solidFill>
                <a:latin typeface="Helvetica Neue"/>
                <a:ea typeface="Helvetica Neue"/>
                <a:cs typeface="Helvetica Neue"/>
              </a:defRPr>
            </a:pPr>
            <a:r>
              <a:rPr sz="1575" b="0">
                <a:solidFill>
                  <a:srgbClr val="546674"/>
                </a:solidFill>
                <a:latin typeface="Helvetica Neue"/>
                <a:ea typeface="Helvetica Neue"/>
                <a:cs typeface="Helvetica Neue"/>
              </a:rPr>
              <a:t>Probability of A (%)</a:t>
            </a:r>
          </a:p>
        </p:txBody>
      </p:sp>
    </p:spTree>
    <p:extLst>
      <p:ext uri="{BB962C8B-B14F-4D97-AF65-F5344CB8AC3E}">
        <p14:creationId xmlns:p14="http://schemas.microsoft.com/office/powerpoint/2010/main" val="221831852"/>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F44447-8E92-4A2C-973F-518C91D88585}"/>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Images have an analogous restart experiment</a:t>
            </a:r>
          </a:p>
        </p:txBody>
      </p:sp>
      <p:sp>
        <p:nvSpPr>
          <p:cNvPr id="2" name="">
            <a:extLst xmlns:a="http://schemas.openxmlformats.org/drawingml/2006/main">
              <a:ext uri="{FF2B5EF4-FFF2-40B4-BE49-F238E27FC236}">
                <a16:creationId xmlns:a16="http://schemas.microsoft.com/office/drawing/2014/main" id="{A5A75930-BE62-49A6-AC1A-9FF3E5D07F7C}"/>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48D40D4-74EB-4A49-B594-B0387AB57510}"/>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Illustration: Blink of an Eye (2025), Figure 3</a:t>
            </a:r>
          </a:p>
        </p:txBody>
      </p:sp>
      <p:sp>
        <p:nvSpPr>
          <p:cNvPr id="4" name="">
            <a:extLst xmlns:a="http://schemas.openxmlformats.org/drawingml/2006/main">
              <a:ext uri="{FF2B5EF4-FFF2-40B4-BE49-F238E27FC236}">
                <a16:creationId xmlns:a16="http://schemas.microsoft.com/office/drawing/2014/main" id="{9FA6CD96-FF11-4D7B-BD76-4E3A92041F40}"/>
              </a:ext>
            </a:extLst>
          </p:cNvPr>
          <p:cNvSpPr>
            <a:spLocks xmlns:a="http://schemas.openxmlformats.org/drawingml/2006/main" noGrp="1"/>
          </p:cNvSpPr>
          <p:nvPr/>
        </p:nvSpPr>
        <p:spPr>
          <a:xfrm xmlns:a="http://schemas.openxmlformats.org/drawingml/2006/main">
            <a:off x="609600" y="15049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2C3C"/>
                </a:solidFill>
                <a:latin typeface="Helvetica Neue"/>
                <a:ea typeface="Helvetica Neue"/>
                <a:cs typeface="Helvetica Neue"/>
              </a:defRPr>
            </a:pPr>
            <a:r>
              <a:rPr sz="2250" b="0">
                <a:solidFill>
                  <a:srgbClr val="172C3C"/>
                </a:solidFill>
                <a:latin typeface="Helvetica Neue"/>
                <a:ea typeface="Helvetica Neue"/>
                <a:cs typeface="Helvetica Neue"/>
              </a:rPr>
              <a:t>A diffusion model builds an image by progressively removing noise.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8b83c838fc64520"/>
          <a:stretch xmlns:a="http://schemas.openxmlformats.org/drawingml/2006/main"/>
        </p:blipFill>
        <p:spPr>
          <a:xfrm xmlns:a="http://schemas.openxmlformats.org/drawingml/2006/main">
            <a:off x="783303" y="2343150"/>
            <a:ext cx="6139119" cy="36766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3999C20-0140-4BF8-AC8B-4E995EDC2801}"/>
              </a:ext>
            </a:extLst>
          </p:cNvPr>
          <p:cNvSpPr>
            <a:spLocks xmlns:a="http://schemas.openxmlformats.org/drawingml/2006/main" noGrp="1"/>
          </p:cNvSpPr>
          <p:nvPr/>
        </p:nvSpPr>
        <p:spPr>
          <a:xfrm xmlns:a="http://schemas.openxmlformats.org/drawingml/2006/main">
            <a:off x="7600950" y="2438400"/>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Add a little noise</a:t>
            </a:r>
          </a:p>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The details survive.</a:t>
            </a:r>
          </a:p>
        </p:txBody>
      </p:sp>
      <p:sp>
        <p:nvSpPr>
          <p:cNvPr id="7" name="">
            <a:extLst xmlns:a="http://schemas.openxmlformats.org/drawingml/2006/main">
              <a:ext uri="{FF2B5EF4-FFF2-40B4-BE49-F238E27FC236}">
                <a16:creationId xmlns:a16="http://schemas.microsoft.com/office/drawing/2014/main" id="{8CA8C2D4-9564-49B8-A1EC-05AA9E6F047B}"/>
              </a:ext>
            </a:extLst>
          </p:cNvPr>
          <p:cNvSpPr>
            <a:spLocks xmlns:a="http://schemas.openxmlformats.org/drawingml/2006/main" noGrp="1"/>
          </p:cNvSpPr>
          <p:nvPr/>
        </p:nvSpPr>
        <p:spPr>
          <a:xfrm xmlns:a="http://schemas.openxmlformats.org/drawingml/2006/main">
            <a:off x="7600950" y="3781425"/>
            <a:ext cx="3905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E8B"/>
                </a:solidFill>
                <a:latin typeface="Helvetica Neue"/>
                <a:ea typeface="Helvetica Neue"/>
                <a:cs typeface="Helvetica Neue"/>
              </a:defRPr>
            </a:pPr>
            <a:r>
              <a:rPr sz="2175" b="1">
                <a:solidFill>
                  <a:srgbClr val="087E8B"/>
                </a:solidFill>
                <a:latin typeface="Helvetica Neue"/>
                <a:ea typeface="Helvetica Neue"/>
                <a:cs typeface="Helvetica Neue"/>
              </a:rPr>
              <a:t>Add more noise</a:t>
            </a:r>
          </a:p>
          <a:p xmlns:a="http://schemas.openxmlformats.org/drawingml/2006/main">
            <a:pPr>
              <a:defRPr sz="2175" b="1">
                <a:solidFill>
                  <a:srgbClr val="087E8B"/>
                </a:solidFill>
                <a:latin typeface="Helvetica Neue"/>
                <a:ea typeface="Helvetica Neue"/>
                <a:cs typeface="Helvetica Neue"/>
              </a:defRPr>
            </a:pPr>
            <a:r>
              <a:rPr sz="2175" b="1">
                <a:solidFill>
                  <a:srgbClr val="087E8B"/>
                </a:solidFill>
                <a:latin typeface="Helvetica Neue"/>
                <a:ea typeface="Helvetica Neue"/>
                <a:cs typeface="Helvetica Neue"/>
              </a:rPr>
              <a:t>Color changes. It is still a cat.</a:t>
            </a:r>
          </a:p>
        </p:txBody>
      </p:sp>
      <p:sp>
        <p:nvSpPr>
          <p:cNvPr id="8" name="">
            <a:extLst xmlns:a="http://schemas.openxmlformats.org/drawingml/2006/main">
              <a:ext uri="{FF2B5EF4-FFF2-40B4-BE49-F238E27FC236}">
                <a16:creationId xmlns:a16="http://schemas.microsoft.com/office/drawing/2014/main" id="{D3DA3EF5-A0F0-4971-B99F-5796A2E4D62C}"/>
              </a:ext>
            </a:extLst>
          </p:cNvPr>
          <p:cNvSpPr>
            <a:spLocks xmlns:a="http://schemas.openxmlformats.org/drawingml/2006/main" noGrp="1"/>
          </p:cNvSpPr>
          <p:nvPr/>
        </p:nvSpPr>
        <p:spPr>
          <a:xfrm xmlns:a="http://schemas.openxmlformats.org/drawingml/2006/main">
            <a:off x="7600950" y="5210175"/>
            <a:ext cx="3905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Add heavy noise</a:t>
            </a:r>
          </a:p>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Even “cat” can disappear.</a:t>
            </a:r>
          </a:p>
        </p:txBody>
      </p:sp>
    </p:spTree>
    <p:extLst>
      <p:ext uri="{BB962C8B-B14F-4D97-AF65-F5344CB8AC3E}">
        <p14:creationId xmlns:p14="http://schemas.microsoft.com/office/powerpoint/2010/main" val="786007225"/>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A09E07-0A4E-4C0C-B94D-2018896D4B7A}"/>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Critical Windows: feature timing in diffusion</a:t>
            </a:r>
          </a:p>
        </p:txBody>
      </p:sp>
      <p:sp>
        <p:nvSpPr>
          <p:cNvPr id="2" name="">
            <a:extLst xmlns:a="http://schemas.openxmlformats.org/drawingml/2006/main">
              <a:ext uri="{FF2B5EF4-FFF2-40B4-BE49-F238E27FC236}">
                <a16:creationId xmlns:a16="http://schemas.microsoft.com/office/drawing/2014/main" id="{2F197F14-6E21-4E0B-879F-3AA9D3874B50}"/>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54CB3DDD-6E52-4065-A30F-36B7A4E69590}"/>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Li &amp; Chen, Critical Windows, ICML 2024, Figure 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8c551d6ae464f8c"/>
          <a:stretch xmlns:a="http://schemas.openxmlformats.org/drawingml/2006/main"/>
        </p:blipFill>
        <p:spPr>
          <a:xfrm xmlns:a="http://schemas.openxmlformats.org/drawingml/2006/main">
            <a:off x="877264" y="1647825"/>
            <a:ext cx="6456021" cy="40386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6997E5C-D16D-45F3-B5BE-344F46BDBA32}"/>
              </a:ext>
            </a:extLst>
          </p:cNvPr>
          <p:cNvSpPr>
            <a:spLocks xmlns:a="http://schemas.openxmlformats.org/drawingml/2006/main" noGrp="1"/>
          </p:cNvSpPr>
          <p:nvPr/>
        </p:nvSpPr>
        <p:spPr>
          <a:xfrm xmlns:a="http://schemas.openxmlformats.org/drawingml/2006/main">
            <a:off x="8172450" y="17621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E8B"/>
                </a:solidFill>
                <a:latin typeface="Helvetica Neue"/>
                <a:ea typeface="Helvetica Neue"/>
                <a:cs typeface="Helvetica Neue"/>
              </a:defRPr>
            </a:pPr>
            <a:r>
              <a:rPr sz="2250" b="1">
                <a:solidFill>
                  <a:srgbClr val="087E8B"/>
                </a:solidFill>
                <a:latin typeface="Helvetica Neue"/>
                <a:ea typeface="Helvetica Neue"/>
                <a:cs typeface="Helvetica Neue"/>
              </a:rPr>
              <a:t>Experiment</a:t>
            </a:r>
          </a:p>
        </p:txBody>
      </p:sp>
      <p:sp>
        <p:nvSpPr>
          <p:cNvPr id="6" name="">
            <a:extLst xmlns:a="http://schemas.openxmlformats.org/drawingml/2006/main">
              <a:ext uri="{FF2B5EF4-FFF2-40B4-BE49-F238E27FC236}">
                <a16:creationId xmlns:a16="http://schemas.microsoft.com/office/drawing/2014/main" id="{687EF4DE-CC94-4E70-ACFE-BD4CAD33261A}"/>
              </a:ext>
            </a:extLst>
          </p:cNvPr>
          <p:cNvSpPr>
            <a:spLocks xmlns:a="http://schemas.openxmlformats.org/drawingml/2006/main" noGrp="1"/>
          </p:cNvSpPr>
          <p:nvPr/>
        </p:nvSpPr>
        <p:spPr>
          <a:xfrm xmlns:a="http://schemas.openxmlformats.org/drawingml/2006/main">
            <a:off x="8172450" y="2390775"/>
            <a:ext cx="3333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Color, size and background</a:t>
            </a:r>
          </a:p>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lose agreement at</a:t>
            </a:r>
          </a:p>
          <a:p xmlns:a="http://schemas.openxmlformats.org/drawingml/2006/main">
            <a:pPr>
              <a:defRPr sz="2175" b="0">
                <a:solidFill>
                  <a:srgbClr val="172C3C"/>
                </a:solidFill>
                <a:latin typeface="Helvetica Neue"/>
                <a:ea typeface="Helvetica Neue"/>
                <a:cs typeface="Helvetica Neue"/>
              </a:defRPr>
            </a:pPr>
            <a:r>
              <a:rPr sz="2175" b="0">
                <a:solidFill>
                  <a:srgbClr val="172C3C"/>
                </a:solidFill>
                <a:latin typeface="Helvetica Neue"/>
                <a:ea typeface="Helvetica Neue"/>
                <a:cs typeface="Helvetica Neue"/>
              </a:rPr>
              <a:t>different noise levels.</a:t>
            </a:r>
          </a:p>
        </p:txBody>
      </p:sp>
      <p:sp>
        <p:nvSpPr>
          <p:cNvPr id="7" name="">
            <a:extLst xmlns:a="http://schemas.openxmlformats.org/drawingml/2006/main">
              <a:ext uri="{FF2B5EF4-FFF2-40B4-BE49-F238E27FC236}">
                <a16:creationId xmlns:a16="http://schemas.microsoft.com/office/drawing/2014/main" id="{8A5E0B0A-413F-43A0-A33E-E621EF4A8B52}"/>
              </a:ext>
            </a:extLst>
          </p:cNvPr>
          <p:cNvSpPr>
            <a:spLocks xmlns:a="http://schemas.openxmlformats.org/drawingml/2006/main" noGrp="1"/>
          </p:cNvSpPr>
          <p:nvPr/>
        </p:nvSpPr>
        <p:spPr>
          <a:xfrm xmlns:a="http://schemas.openxmlformats.org/drawingml/2006/main">
            <a:off x="8172450" y="39909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87E8B"/>
                </a:solidFill>
                <a:latin typeface="Helvetica Neue"/>
                <a:ea typeface="Helvetica Neue"/>
                <a:cs typeface="Helvetica Neue"/>
              </a:defRPr>
            </a:pPr>
            <a:r>
              <a:rPr sz="2250" b="1">
                <a:solidFill>
                  <a:srgbClr val="087E8B"/>
                </a:solidFill>
                <a:latin typeface="Helvetica Neue"/>
                <a:ea typeface="Helvetica Neue"/>
                <a:cs typeface="Helvetica Neue"/>
              </a:rPr>
              <a:t>Theory</a:t>
            </a:r>
          </a:p>
        </p:txBody>
      </p:sp>
      <p:sp>
        <p:nvSpPr>
          <p:cNvPr id="8" name="">
            <a:extLst xmlns:a="http://schemas.openxmlformats.org/drawingml/2006/main">
              <a:ext uri="{FF2B5EF4-FFF2-40B4-BE49-F238E27FC236}">
                <a16:creationId xmlns:a16="http://schemas.microsoft.com/office/drawing/2014/main" id="{047ADB2E-E612-42F7-8E6B-4E342C0EB630}"/>
              </a:ext>
            </a:extLst>
          </p:cNvPr>
          <p:cNvSpPr>
            <a:spLocks xmlns:a="http://schemas.openxmlformats.org/drawingml/2006/main" noGrp="1"/>
          </p:cNvSpPr>
          <p:nvPr/>
        </p:nvSpPr>
        <p:spPr>
          <a:xfrm xmlns:a="http://schemas.openxmlformats.org/drawingml/2006/main">
            <a:off x="8172450" y="4610100"/>
            <a:ext cx="3333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For mixtures of bell-shaped</a:t>
            </a:r>
          </a:p>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populations, separation</a:t>
            </a:r>
          </a:p>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controls feature timing.</a:t>
            </a:r>
          </a:p>
        </p:txBody>
      </p:sp>
      <p:sp>
        <p:nvSpPr>
          <p:cNvPr id="9" name="">
            <a:extLst xmlns:a="http://schemas.openxmlformats.org/drawingml/2006/main">
              <a:ext uri="{FF2B5EF4-FFF2-40B4-BE49-F238E27FC236}">
                <a16:creationId xmlns:a16="http://schemas.microsoft.com/office/drawing/2014/main" id="{F422A647-ADD2-4A6A-B414-D478630BCED4}"/>
              </a:ext>
            </a:extLst>
          </p:cNvPr>
          <p:cNvSpPr>
            <a:spLocks xmlns:a="http://schemas.openxmlformats.org/drawingml/2006/main" noGrp="1"/>
          </p:cNvSpPr>
          <p:nvPr/>
        </p:nvSpPr>
        <p:spPr>
          <a:xfrm xmlns:a="http://schemas.openxmlformats.org/drawingml/2006/main">
            <a:off x="609600" y="5886450"/>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6674"/>
                </a:solidFill>
                <a:latin typeface="Helvetica Neue"/>
                <a:ea typeface="Helvetica Neue"/>
                <a:cs typeface="Helvetica Neue"/>
              </a:defRPr>
            </a:pPr>
            <a:r>
              <a:rPr sz="1500" b="0">
                <a:solidFill>
                  <a:srgbClr val="546674"/>
                </a:solidFill>
                <a:latin typeface="Helvetica Neue"/>
                <a:ea typeface="Helvetica Neue"/>
                <a:cs typeface="Helvetica Neue"/>
              </a:rPr>
              <a:t>Theory assumes ideal diffusion and strongly log-concave components.</a:t>
            </a:r>
          </a:p>
        </p:txBody>
      </p:sp>
    </p:spTree>
    <p:extLst>
      <p:ext uri="{BB962C8B-B14F-4D97-AF65-F5344CB8AC3E}">
        <p14:creationId xmlns:p14="http://schemas.microsoft.com/office/powerpoint/2010/main" val="1681404814"/>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C68E61-DA03-42A7-AEAB-275DAD996C1E}"/>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Erasing detail while preserving the group</a:t>
            </a:r>
          </a:p>
        </p:txBody>
      </p:sp>
      <p:sp>
        <p:nvSpPr>
          <p:cNvPr id="2" name="">
            <a:extLst xmlns:a="http://schemas.openxmlformats.org/drawingml/2006/main">
              <a:ext uri="{FF2B5EF4-FFF2-40B4-BE49-F238E27FC236}">
                <a16:creationId xmlns:a16="http://schemas.microsoft.com/office/drawing/2014/main" id="{73429BF0-155E-4562-A30F-78D81A865DE8}"/>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221FE999-880D-46F2-A074-5036591A610E}"/>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Common principle behind both papers</a:t>
            </a:r>
          </a:p>
        </p:txBody>
      </p:sp>
      <p:sp>
        <p:nvSpPr>
          <p:cNvPr id="4" name="">
            <a:extLst xmlns:a="http://schemas.openxmlformats.org/drawingml/2006/main">
              <a:ext uri="{FF2B5EF4-FFF2-40B4-BE49-F238E27FC236}">
                <a16:creationId xmlns:a16="http://schemas.microsoft.com/office/drawing/2014/main" id="{B1A75A60-F355-4690-9554-51A565EE1767}"/>
              </a:ext>
            </a:extLst>
          </p:cNvPr>
          <p:cNvSpPr>
            <a:spLocks xmlns:a="http://schemas.openxmlformats.org/drawingml/2006/main" noGrp="1"/>
          </p:cNvSpPr>
          <p:nvPr/>
        </p:nvSpPr>
        <p:spPr>
          <a:xfrm xmlns:a="http://schemas.openxmlformats.org/drawingml/2006/main">
            <a:off x="609600" y="1600200"/>
            <a:ext cx="1076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Orange cats are a group inside all cats.</a:t>
            </a:r>
          </a:p>
        </p:txBody>
      </p:sp>
      <p:sp>
        <p:nvSpPr>
          <p:cNvPr id="5" name="">
            <a:extLst xmlns:a="http://schemas.openxmlformats.org/drawingml/2006/main">
              <a:ext uri="{FF2B5EF4-FFF2-40B4-BE49-F238E27FC236}">
                <a16:creationId xmlns:a16="http://schemas.microsoft.com/office/drawing/2014/main" id="{7F48BE7F-3026-4616-927E-71E010928483}"/>
              </a:ext>
            </a:extLst>
          </p:cNvPr>
          <p:cNvSpPr>
            <a:spLocks xmlns:a="http://schemas.openxmlformats.org/drawingml/2006/main" noGrp="1"/>
          </p:cNvSpPr>
          <p:nvPr/>
        </p:nvSpPr>
        <p:spPr>
          <a:xfrm xmlns:a="http://schemas.openxmlformats.org/drawingml/2006/main">
            <a:off x="609600" y="2905125"/>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E8B"/>
                </a:solidFill>
                <a:latin typeface="Helvetica Neue"/>
                <a:ea typeface="Helvetica Neue"/>
                <a:cs typeface="Helvetica Neue"/>
              </a:defRPr>
            </a:pPr>
            <a:r>
              <a:rPr sz="2925" b="1">
                <a:solidFill>
                  <a:srgbClr val="087E8B"/>
                </a:solidFill>
                <a:latin typeface="Helvetica Neue"/>
                <a:ea typeface="Helvetica Neue"/>
                <a:cs typeface="Helvetica Neue"/>
              </a:rPr>
              <a:t>Forget which kind of cat</a:t>
            </a:r>
          </a:p>
        </p:txBody>
      </p:sp>
      <p:sp>
        <p:nvSpPr>
          <p:cNvPr id="6" name="">
            <a:extLst xmlns:a="http://schemas.openxmlformats.org/drawingml/2006/main">
              <a:ext uri="{FF2B5EF4-FFF2-40B4-BE49-F238E27FC236}">
                <a16:creationId xmlns:a16="http://schemas.microsoft.com/office/drawing/2014/main" id="{43F0B6C7-A94A-4429-A34C-7348AC5D60F2}"/>
              </a:ext>
            </a:extLst>
          </p:cNvPr>
          <p:cNvSpPr>
            <a:spLocks xmlns:a="http://schemas.openxmlformats.org/drawingml/2006/main" noGrp="1"/>
          </p:cNvSpPr>
          <p:nvPr/>
        </p:nvSpPr>
        <p:spPr>
          <a:xfrm xmlns:a="http://schemas.openxmlformats.org/drawingml/2006/main">
            <a:off x="609600" y="36099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C3C"/>
                </a:solidFill>
                <a:latin typeface="Helvetica Neue"/>
                <a:ea typeface="Helvetica Neue"/>
                <a:cs typeface="Helvetica Neue"/>
              </a:defRPr>
            </a:pPr>
            <a:r>
              <a:rPr sz="2325" b="0">
                <a:solidFill>
                  <a:srgbClr val="172C3C"/>
                </a:solidFill>
                <a:latin typeface="Helvetica Neue"/>
                <a:ea typeface="Helvetica Neue"/>
                <a:cs typeface="Helvetica Neue"/>
              </a:rPr>
              <a:t>The remaining information cannot distinguish orange from brown.</a:t>
            </a:r>
          </a:p>
        </p:txBody>
      </p:sp>
      <p:sp>
        <p:nvSpPr>
          <p:cNvPr id="7" name="">
            <a:extLst xmlns:a="http://schemas.openxmlformats.org/drawingml/2006/main">
              <a:ext uri="{FF2B5EF4-FFF2-40B4-BE49-F238E27FC236}">
                <a16:creationId xmlns:a16="http://schemas.microsoft.com/office/drawing/2014/main" id="{E6A93447-898B-4802-A79C-2D0D2221B518}"/>
              </a:ext>
            </a:extLst>
          </p:cNvPr>
          <p:cNvSpPr>
            <a:spLocks xmlns:a="http://schemas.openxmlformats.org/drawingml/2006/main" noGrp="1"/>
          </p:cNvSpPr>
          <p:nvPr/>
        </p:nvSpPr>
        <p:spPr>
          <a:xfrm xmlns:a="http://schemas.openxmlformats.org/drawingml/2006/main">
            <a:off x="609600" y="468630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B"/>
                </a:solidFill>
                <a:latin typeface="Helvetica Neue"/>
                <a:ea typeface="Helvetica Neue"/>
                <a:cs typeface="Helvetica Neue"/>
              </a:defRPr>
            </a:pPr>
            <a:r>
              <a:rPr sz="2700" b="1">
                <a:solidFill>
                  <a:srgbClr val="087E8B"/>
                </a:solidFill>
                <a:latin typeface="Helvetica Neue"/>
                <a:ea typeface="Helvetica Neue"/>
                <a:cs typeface="Helvetica Neue"/>
              </a:rPr>
              <a:t>Keep enough information to distinguish cats from dogs</a:t>
            </a:r>
          </a:p>
        </p:txBody>
      </p:sp>
      <p:sp>
        <p:nvSpPr>
          <p:cNvPr id="8" name="">
            <a:extLst xmlns:a="http://schemas.openxmlformats.org/drawingml/2006/main">
              <a:ext uri="{FF2B5EF4-FFF2-40B4-BE49-F238E27FC236}">
                <a16:creationId xmlns:a16="http://schemas.microsoft.com/office/drawing/2014/main" id="{1B2EF7F5-18D8-4A64-BEEE-BD32A30A63FD}"/>
              </a:ext>
            </a:extLst>
          </p:cNvPr>
          <p:cNvSpPr>
            <a:spLocks xmlns:a="http://schemas.openxmlformats.org/drawingml/2006/main" noGrp="1"/>
          </p:cNvSpPr>
          <p:nvPr/>
        </p:nvSpPr>
        <p:spPr>
          <a:xfrm xmlns:a="http://schemas.openxmlformats.org/drawingml/2006/main">
            <a:off x="609600" y="53911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2C3C"/>
                </a:solidFill>
                <a:latin typeface="Helvetica Neue"/>
                <a:ea typeface="Helvetica Neue"/>
                <a:cs typeface="Helvetica Neue"/>
              </a:defRPr>
            </a:pPr>
            <a:r>
              <a:rPr sz="2325" b="0">
                <a:solidFill>
                  <a:srgbClr val="172C3C"/>
                </a:solidFill>
                <a:latin typeface="Helvetica Neue"/>
                <a:ea typeface="Helvetica Neue"/>
                <a:cs typeface="Helvetica Neue"/>
              </a:rPr>
              <a:t>Regeneration can change the color while preserving the cat population.</a:t>
            </a:r>
          </a:p>
        </p:txBody>
      </p:sp>
    </p:spTree>
    <p:extLst>
      <p:ext uri="{BB962C8B-B14F-4D97-AF65-F5344CB8AC3E}">
        <p14:creationId xmlns:p14="http://schemas.microsoft.com/office/powerpoint/2010/main" val="1779162177"/>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823196-86B5-482E-9970-A9CA22CF5623}"/>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Blink of an Eye: why the principle is general</a:t>
            </a:r>
          </a:p>
        </p:txBody>
      </p:sp>
      <p:sp>
        <p:nvSpPr>
          <p:cNvPr id="2" name="">
            <a:extLst xmlns:a="http://schemas.openxmlformats.org/drawingml/2006/main">
              <a:ext uri="{FF2B5EF4-FFF2-40B4-BE49-F238E27FC236}">
                <a16:creationId xmlns:a16="http://schemas.microsoft.com/office/drawing/2014/main" id="{B518521F-A391-4EF3-B136-D6DFA1BD1F30}"/>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2D7BF7F0-B034-4769-BDBA-7C71113E15C4}"/>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Li, Karan &amp; Chen, Blink of an Eye, ICML 2025</a:t>
            </a:r>
          </a:p>
        </p:txBody>
      </p:sp>
      <p:sp>
        <p:nvSpPr>
          <p:cNvPr id="4" name="">
            <a:extLst xmlns:a="http://schemas.openxmlformats.org/drawingml/2006/main">
              <a:ext uri="{FF2B5EF4-FFF2-40B4-BE49-F238E27FC236}">
                <a16:creationId xmlns:a16="http://schemas.microsoft.com/office/drawing/2014/main" id="{C372B403-900D-407E-9407-81FB650AD8C2}"/>
              </a:ext>
            </a:extLst>
          </p:cNvPr>
          <p:cNvSpPr>
            <a:spLocks xmlns:a="http://schemas.openxmlformats.org/drawingml/2006/main" noGrp="1"/>
          </p:cNvSpPr>
          <p:nvPr/>
        </p:nvSpPr>
        <p:spPr>
          <a:xfrm xmlns:a="http://schemas.openxmlformats.org/drawingml/2006/main">
            <a:off x="609600" y="1619250"/>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E8B"/>
                </a:solidFill>
                <a:latin typeface="Helvetica Neue"/>
                <a:ea typeface="Helvetica Neue"/>
                <a:cs typeface="Helvetica Neue"/>
              </a:defRPr>
            </a:pPr>
            <a:r>
              <a:rPr sz="2850" b="1">
                <a:solidFill>
                  <a:srgbClr val="087E8B"/>
                </a:solidFill>
                <a:latin typeface="Helvetica Neue"/>
                <a:ea typeface="Helvetica Neue"/>
                <a:cs typeface="Helvetica Neue"/>
              </a:rPr>
              <a:t>Similar observations give similar regenerated distributions.</a:t>
            </a:r>
          </a:p>
        </p:txBody>
      </p:sp>
      <p:sp>
        <p:nvSpPr>
          <p:cNvPr id="5" name="">
            <a:extLst xmlns:a="http://schemas.openxmlformats.org/drawingml/2006/main">
              <a:ext uri="{FF2B5EF4-FFF2-40B4-BE49-F238E27FC236}">
                <a16:creationId xmlns:a16="http://schemas.microsoft.com/office/drawing/2014/main" id="{BFB1983D-09E0-4B44-8393-674FB430B6C0}"/>
              </a:ext>
            </a:extLst>
          </p:cNvPr>
          <p:cNvSpPr>
            <a:spLocks xmlns:a="http://schemas.openxmlformats.org/drawingml/2006/main" noGrp="1"/>
          </p:cNvSpPr>
          <p:nvPr/>
        </p:nvSpPr>
        <p:spPr>
          <a:xfrm xmlns:a="http://schemas.openxmlformats.org/drawingml/2006/main">
            <a:off x="609600" y="3162300"/>
            <a:ext cx="10763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If the observations still identify the group, regeneration</a:t>
            </a:r>
          </a:p>
          <a:p xmlns:a="http://schemas.openxmlformats.org/drawingml/2006/main">
            <a:pPr>
              <a:defRPr sz="2700" b="0">
                <a:solidFill>
                  <a:srgbClr val="172C3C"/>
                </a:solidFill>
                <a:latin typeface="Helvetica Neue"/>
                <a:ea typeface="Helvetica Neue"/>
                <a:cs typeface="Helvetica Neue"/>
              </a:defRPr>
            </a:pPr>
            <a:r>
              <a:rPr sz="2700" b="0">
                <a:solidFill>
                  <a:srgbClr val="172C3C"/>
                </a:solidFill>
                <a:latin typeface="Helvetica Neue"/>
                <a:ea typeface="Helvetica Neue"/>
                <a:cs typeface="Helvetica Neue"/>
              </a:rPr>
              <a:t>rarely leaves it.</a:t>
            </a:r>
          </a:p>
        </p:txBody>
      </p:sp>
      <p:sp>
        <p:nvSpPr>
          <p:cNvPr id="6" name="">
            <a:extLst xmlns:a="http://schemas.openxmlformats.org/drawingml/2006/main">
              <a:ext uri="{FF2B5EF4-FFF2-40B4-BE49-F238E27FC236}">
                <a16:creationId xmlns:a16="http://schemas.microsoft.com/office/drawing/2014/main" id="{74D0C043-BA29-4134-B45A-BFBEC902D54D}"/>
              </a:ext>
            </a:extLst>
          </p:cNvPr>
          <p:cNvSpPr>
            <a:spLocks xmlns:a="http://schemas.openxmlformats.org/drawingml/2006/main" noGrp="1"/>
          </p:cNvSpPr>
          <p:nvPr/>
        </p:nvSpPr>
        <p:spPr>
          <a:xfrm xmlns:a="http://schemas.openxmlformats.org/drawingml/2006/main">
            <a:off x="609600" y="485775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72C3C"/>
                </a:solidFill>
                <a:latin typeface="Helvetica Neue"/>
                <a:ea typeface="Helvetica Neue"/>
                <a:cs typeface="Helvetica Neue"/>
              </a:defRPr>
            </a:pPr>
            <a:r>
              <a:rPr sz="2625" b="1">
                <a:solidFill>
                  <a:srgbClr val="172C3C"/>
                </a:solidFill>
                <a:latin typeface="Helvetica Neue"/>
                <a:ea typeface="Helvetica Neue"/>
                <a:cs typeface="Helvetica Neue"/>
              </a:rPr>
              <a:t>The proof uses conditional probability and the triangle inequality.</a:t>
            </a:r>
          </a:p>
        </p:txBody>
      </p:sp>
      <p:sp>
        <p:nvSpPr>
          <p:cNvPr id="7" name="">
            <a:extLst xmlns:a="http://schemas.openxmlformats.org/drawingml/2006/main">
              <a:ext uri="{FF2B5EF4-FFF2-40B4-BE49-F238E27FC236}">
                <a16:creationId xmlns:a16="http://schemas.microsoft.com/office/drawing/2014/main" id="{EB13E98C-B32C-4B3E-831F-23C688BA6935}"/>
              </a:ext>
            </a:extLst>
          </p:cNvPr>
          <p:cNvSpPr>
            <a:spLocks xmlns:a="http://schemas.openxmlformats.org/drawingml/2006/main" noGrp="1"/>
          </p:cNvSpPr>
          <p:nvPr/>
        </p:nvSpPr>
        <p:spPr>
          <a:xfrm xmlns:a="http://schemas.openxmlformats.org/drawingml/2006/main">
            <a:off x="609600" y="5867400"/>
            <a:ext cx="1076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74"/>
                </a:solidFill>
                <a:latin typeface="Helvetica Neue"/>
                <a:ea typeface="Helvetica Neue"/>
                <a:cs typeface="Helvetica Neue"/>
              </a:defRPr>
            </a:pPr>
            <a:r>
              <a:rPr sz="1725" b="0">
                <a:solidFill>
                  <a:srgbClr val="546674"/>
                </a:solidFill>
                <a:latin typeface="Helvetica Neue"/>
                <a:ea typeface="Helvetica Neue"/>
                <a:cs typeface="Helvetica Neue"/>
              </a:rPr>
              <a:t>Applies to text and diffusion under the paper’s sampling framework.</a:t>
            </a:r>
          </a:p>
        </p:txBody>
      </p:sp>
    </p:spTree>
    <p:extLst>
      <p:ext uri="{BB962C8B-B14F-4D97-AF65-F5344CB8AC3E}">
        <p14:creationId xmlns:p14="http://schemas.microsoft.com/office/powerpoint/2010/main" val="826755710"/>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519F85C-2A4C-4D4F-B03F-FAE107ED59E2}"/>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The arithmetic example is part of a broader pattern</a:t>
            </a:r>
          </a:p>
        </p:txBody>
      </p:sp>
      <p:sp>
        <p:nvSpPr>
          <p:cNvPr id="2" name="">
            <a:extLst xmlns:a="http://schemas.openxmlformats.org/drawingml/2006/main">
              <a:ext uri="{FF2B5EF4-FFF2-40B4-BE49-F238E27FC236}">
                <a16:creationId xmlns:a16="http://schemas.microsoft.com/office/drawing/2014/main" id="{D5AF2B18-5F0D-4E75-BB26-F67A5F8C9DC9}"/>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E168E622-82F7-4E69-B902-C6F22945BDD7}"/>
              </a:ext>
            </a:extLst>
          </p:cNvPr>
          <p:cNvSpPr>
            <a:spLocks xmlns:a="http://schemas.openxmlformats.org/drawingml/2006/main" noGrp="1"/>
          </p:cNvSpPr>
          <p:nvPr/>
        </p:nvSpPr>
        <p:spPr>
          <a:xfrm xmlns:a="http://schemas.openxmlformats.org/drawingml/2006/main">
            <a:off x="609600" y="6257925"/>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46674"/>
                </a:solidFill>
                <a:latin typeface="Helvetica Neue"/>
                <a:ea typeface="Helvetica Neue"/>
                <a:cs typeface="Helvetica Neue"/>
              </a:defRPr>
            </a:pPr>
            <a:r>
              <a:rPr sz="1275" b="0">
                <a:solidFill>
                  <a:srgbClr val="546674"/>
                </a:solidFill>
                <a:latin typeface="Helvetica Neue"/>
                <a:ea typeface="Helvetica Neue"/>
                <a:cs typeface="Helvetica Neue"/>
              </a:rPr>
              <a:t>Blink of an Eye (2025), Section 6. All models are Instruct variants.</a:t>
            </a:r>
          </a:p>
        </p:txBody>
      </p:sp>
      <p:sp>
        <p:nvSpPr>
          <p:cNvPr id="4" name="">
            <a:extLst xmlns:a="http://schemas.openxmlformats.org/drawingml/2006/main">
              <a:ext uri="{FF2B5EF4-FFF2-40B4-BE49-F238E27FC236}">
                <a16:creationId xmlns:a16="http://schemas.microsoft.com/office/drawing/2014/main" id="{7BFB8627-ADFF-41B2-85CB-9AF39119CA4A}"/>
              </a:ext>
            </a:extLst>
          </p:cNvPr>
          <p:cNvSpPr>
            <a:spLocks xmlns:a="http://schemas.openxmlformats.org/drawingml/2006/main" noGrp="1"/>
          </p:cNvSpPr>
          <p:nvPr/>
        </p:nvSpPr>
        <p:spPr>
          <a:xfrm xmlns:a="http://schemas.openxmlformats.org/drawingml/2006/main">
            <a:off x="609600" y="15811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2C3C"/>
                </a:solidFill>
                <a:latin typeface="Helvetica Neue"/>
                <a:ea typeface="Helvetica Neue"/>
                <a:cs typeface="Helvetica Neue"/>
              </a:defRPr>
            </a:pPr>
            <a:r>
              <a:rPr sz="2400" b="0">
                <a:solidFill>
                  <a:srgbClr val="172C3C"/>
                </a:solidFill>
                <a:latin typeface="Helvetica Neue"/>
                <a:ea typeface="Helvetica Neue"/>
                <a:cs typeface="Helvetica Neue"/>
              </a:rPr>
              <a:t>MATH responses with a critical window (%)</a:t>
            </a:r>
          </a:p>
        </p:txBody>
      </p:sp>
      <p:graphicFrame>
        <p:nvGraphicFramePr>
          <p:cNvPr id="13" name="Chart"/>
          <p:cNvGraphicFramePr/>
          <p:nvPr/>
        </p:nvGraphicFramePr>
        <p:xfrm>
          <a:off xmlns:a="http://schemas.openxmlformats.org/drawingml/2006/main" x="609600" y="2524125"/>
          <a:ext xmlns:a="http://schemas.openxmlformats.org/drawingml/2006/main" cx="7239000" cy="2971800"/>
        </p:xfrm>
        <a:graphic xmlns:a="http://schemas.openxmlformats.org/drawingml/2006/main">
          <a:graphicData uri="http://schemas.openxmlformats.org/drawingml/2006/chart">
            <c:chart xmlns:r="http://schemas.openxmlformats.org/officeDocument/2006/relationships" xmlns:c="http://schemas.openxmlformats.org/drawingml/2006/chart" r:id="R3b79458dc76e47d7"/>
          </a:graphicData>
        </a:graphic>
      </p:graphicFrame>
      <p:sp>
        <p:nvSpPr>
          <p:cNvPr id="6" name="">
            <a:extLst xmlns:a="http://schemas.openxmlformats.org/drawingml/2006/main">
              <a:ext uri="{FF2B5EF4-FFF2-40B4-BE49-F238E27FC236}">
                <a16:creationId xmlns:a16="http://schemas.microsoft.com/office/drawing/2014/main" id="{02894A0B-0D29-4753-B14C-CEBE73EB3920}"/>
              </a:ext>
            </a:extLst>
          </p:cNvPr>
          <p:cNvSpPr>
            <a:spLocks xmlns:a="http://schemas.openxmlformats.org/drawingml/2006/main" noGrp="1"/>
          </p:cNvSpPr>
          <p:nvPr/>
        </p:nvSpPr>
        <p:spPr>
          <a:xfrm xmlns:a="http://schemas.openxmlformats.org/drawingml/2006/main">
            <a:off x="8524875" y="274320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87E8B"/>
                </a:solidFill>
                <a:latin typeface="Helvetica Neue"/>
                <a:ea typeface="Helvetica Neue"/>
                <a:cs typeface="Helvetica Neue"/>
              </a:defRPr>
            </a:pPr>
            <a:r>
              <a:rPr sz="2325" b="1">
                <a:solidFill>
                  <a:srgbClr val="087E8B"/>
                </a:solidFill>
                <a:latin typeface="Helvetica Neue"/>
                <a:ea typeface="Helvetica Neue"/>
                <a:cs typeface="Helvetica Neue"/>
              </a:rPr>
              <a:t>A window can mark</a:t>
            </a:r>
          </a:p>
          <a:p xmlns:a="http://schemas.openxmlformats.org/drawingml/2006/main">
            <a:pPr>
              <a:defRPr sz="2325" b="1">
                <a:solidFill>
                  <a:srgbClr val="087E8B"/>
                </a:solidFill>
                <a:latin typeface="Helvetica Neue"/>
                <a:ea typeface="Helvetica Neue"/>
                <a:cs typeface="Helvetica Neue"/>
              </a:defRPr>
            </a:pPr>
            <a:r>
              <a:rPr sz="2325" b="1">
                <a:solidFill>
                  <a:srgbClr val="087E8B"/>
                </a:solidFill>
                <a:latin typeface="Helvetica Neue"/>
                <a:ea typeface="Helvetica Neue"/>
                <a:cs typeface="Helvetica Neue"/>
              </a:rPr>
              <a:t>a consequential</a:t>
            </a:r>
          </a:p>
          <a:p xmlns:a="http://schemas.openxmlformats.org/drawingml/2006/main">
            <a:pPr>
              <a:defRPr sz="2325" b="1">
                <a:solidFill>
                  <a:srgbClr val="087E8B"/>
                </a:solidFill>
                <a:latin typeface="Helvetica Neue"/>
                <a:ea typeface="Helvetica Neue"/>
                <a:cs typeface="Helvetica Neue"/>
              </a:defRPr>
            </a:pPr>
            <a:r>
              <a:rPr sz="2325" b="1">
                <a:solidFill>
                  <a:srgbClr val="087E8B"/>
                </a:solidFill>
                <a:latin typeface="Helvetica Neue"/>
                <a:ea typeface="Helvetica Neue"/>
                <a:cs typeface="Helvetica Neue"/>
              </a:rPr>
              <a:t>reasoning step.</a:t>
            </a:r>
          </a:p>
        </p:txBody>
      </p:sp>
      <p:sp>
        <p:nvSpPr>
          <p:cNvPr id="7" name="">
            <a:extLst xmlns:a="http://schemas.openxmlformats.org/drawingml/2006/main">
              <a:ext uri="{FF2B5EF4-FFF2-40B4-BE49-F238E27FC236}">
                <a16:creationId xmlns:a16="http://schemas.microsoft.com/office/drawing/2014/main" id="{BC80B9E7-1C74-4D1B-8E27-92FF597CCA17}"/>
              </a:ext>
            </a:extLst>
          </p:cNvPr>
          <p:cNvSpPr>
            <a:spLocks xmlns:a="http://schemas.openxmlformats.org/drawingml/2006/main" noGrp="1"/>
          </p:cNvSpPr>
          <p:nvPr/>
        </p:nvSpPr>
        <p:spPr>
          <a:xfrm xmlns:a="http://schemas.openxmlformats.org/drawingml/2006/main">
            <a:off x="8524875" y="4457700"/>
            <a:ext cx="290512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Agreement with an answer</a:t>
            </a:r>
          </a:p>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does not establish</a:t>
            </a:r>
          </a:p>
          <a:p xmlns:a="http://schemas.openxmlformats.org/drawingml/2006/main">
            <a:pPr>
              <a:defRPr sz="2100" b="0">
                <a:solidFill>
                  <a:srgbClr val="172C3C"/>
                </a:solidFill>
                <a:latin typeface="Helvetica Neue"/>
                <a:ea typeface="Helvetica Neue"/>
                <a:cs typeface="Helvetica Neue"/>
              </a:defRPr>
            </a:pPr>
            <a:r>
              <a:rPr sz="2100" b="0">
                <a:solidFill>
                  <a:srgbClr val="172C3C"/>
                </a:solidFill>
                <a:latin typeface="Helvetica Neue"/>
                <a:ea typeface="Helvetica Neue"/>
                <a:cs typeface="Helvetica Neue"/>
              </a:rPr>
              <a:t>that it is correct.</a:t>
            </a:r>
          </a:p>
        </p:txBody>
      </p:sp>
      <p:sp>
        <p:nvSpPr>
          <p:cNvPr id="8" name="">
            <a:extLst xmlns:a="http://schemas.openxmlformats.org/drawingml/2006/main">
              <a:ext uri="{FF2B5EF4-FFF2-40B4-BE49-F238E27FC236}">
                <a16:creationId xmlns:a16="http://schemas.microsoft.com/office/drawing/2014/main" id="{01B4D5CC-B615-4776-8CB3-FCD2E4303071}"/>
              </a:ext>
            </a:extLst>
          </p:cNvPr>
          <p:cNvSpPr>
            <a:spLocks xmlns:a="http://schemas.openxmlformats.org/drawingml/2006/main" noGrp="1"/>
          </p:cNvSpPr>
          <p:nvPr/>
        </p:nvSpPr>
        <p:spPr>
          <a:xfrm xmlns:a="http://schemas.openxmlformats.org/drawingml/2006/main">
            <a:off x="609600" y="5819775"/>
            <a:ext cx="10572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6674"/>
                </a:solidFill>
                <a:latin typeface="Helvetica Neue"/>
                <a:ea typeface="Helvetica Neue"/>
                <a:cs typeface="Helvetica Neue"/>
              </a:defRPr>
            </a:pPr>
            <a:r>
              <a:rPr sz="1725" b="0">
                <a:solidFill>
                  <a:srgbClr val="546674"/>
                </a:solidFill>
                <a:latin typeface="Helvetica Neue"/>
                <a:ea typeface="Helvetica Neue"/>
                <a:cs typeface="Helvetica Neue"/>
              </a:rPr>
              <a:t>Measured criterion: &gt;0.5 jump in original-answer agreement.</a:t>
            </a:r>
          </a:p>
        </p:txBody>
      </p:sp>
    </p:spTree>
    <p:extLst>
      <p:ext uri="{BB962C8B-B14F-4D97-AF65-F5344CB8AC3E}">
        <p14:creationId xmlns:p14="http://schemas.microsoft.com/office/powerpoint/2010/main" val="1188477754"/>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B8A2C4D-F763-450B-A07F-38F14FC70512}"/>
              </a:ext>
            </a:extLst>
          </p:cNvPr>
          <p:cNvSpPr>
            <a:spLocks xmlns:a="http://schemas.openxmlformats.org/drawingml/2006/main" noGrp="1"/>
          </p:cNvSpPr>
          <p:nvPr/>
        </p:nvSpPr>
        <p:spPr>
          <a:xfrm xmlns:a="http://schemas.openxmlformats.org/drawingml/2006/main">
            <a:off x="609600" y="409575"/>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2C3C"/>
                </a:solidFill>
                <a:latin typeface="Helvetica Neue"/>
                <a:ea typeface="Helvetica Neue"/>
                <a:cs typeface="Helvetica Neue"/>
              </a:defRPr>
            </a:pPr>
            <a:r>
              <a:rPr sz="3450" b="1">
                <a:solidFill>
                  <a:srgbClr val="172C3C"/>
                </a:solidFill>
                <a:latin typeface="Helvetica Neue"/>
                <a:ea typeface="Helvetica Neue"/>
                <a:cs typeface="Helvetica Neue"/>
              </a:rPr>
              <a:t>We can study when an answer becomes fixed</a:t>
            </a:r>
          </a:p>
        </p:txBody>
      </p:sp>
      <p:sp>
        <p:nvSpPr>
          <p:cNvPr id="2" name="">
            <a:extLst xmlns:a="http://schemas.openxmlformats.org/drawingml/2006/main">
              <a:ext uri="{FF2B5EF4-FFF2-40B4-BE49-F238E27FC236}">
                <a16:creationId xmlns:a16="http://schemas.microsoft.com/office/drawing/2014/main" id="{8718D985-0C3F-4C4E-9C79-3F987C96F35A}"/>
              </a:ext>
            </a:extLst>
          </p:cNvPr>
          <p:cNvSpPr>
            <a:spLocks xmlns:a="http://schemas.openxmlformats.org/drawingml/2006/main" noGrp="1"/>
          </p:cNvSpPr>
          <p:nvPr/>
        </p:nvSpPr>
        <p:spPr>
          <a:xfrm xmlns:a="http://schemas.openxmlformats.org/drawingml/2006/main">
            <a:off x="11049000" y="62865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FBC41B52-E19B-4944-B73D-6B0A67D036B3}"/>
              </a:ext>
            </a:extLst>
          </p:cNvPr>
          <p:cNvSpPr>
            <a:spLocks xmlns:a="http://schemas.openxmlformats.org/drawingml/2006/main" noGrp="1"/>
          </p:cNvSpPr>
          <p:nvPr/>
        </p:nvSpPr>
        <p:spPr>
          <a:xfrm xmlns:a="http://schemas.openxmlformats.org/drawingml/2006/main">
            <a:off x="609600" y="17049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E8B"/>
                </a:solidFill>
                <a:latin typeface="Helvetica Neue"/>
                <a:ea typeface="Helvetica Neue"/>
                <a:cs typeface="Helvetica Neue"/>
              </a:defRPr>
            </a:pPr>
            <a:r>
              <a:rPr sz="2475" b="1">
                <a:solidFill>
                  <a:srgbClr val="087E8B"/>
                </a:solidFill>
                <a:latin typeface="Helvetica Neue"/>
                <a:ea typeface="Helvetica Neue"/>
                <a:cs typeface="Helvetica Neue"/>
              </a:rPr>
              <a:t>Critical Windows (2024)</a:t>
            </a:r>
          </a:p>
        </p:txBody>
      </p:sp>
      <p:sp>
        <p:nvSpPr>
          <p:cNvPr id="4" name="">
            <a:extLst xmlns:a="http://schemas.openxmlformats.org/drawingml/2006/main">
              <a:ext uri="{FF2B5EF4-FFF2-40B4-BE49-F238E27FC236}">
                <a16:creationId xmlns:a16="http://schemas.microsoft.com/office/drawing/2014/main" id="{03FE993A-B90B-4FC5-965B-CFC4F5D066DC}"/>
              </a:ext>
            </a:extLst>
          </p:cNvPr>
          <p:cNvSpPr>
            <a:spLocks xmlns:a="http://schemas.openxmlformats.org/drawingml/2006/main" noGrp="1"/>
          </p:cNvSpPr>
          <p:nvPr/>
        </p:nvSpPr>
        <p:spPr>
          <a:xfrm xmlns:a="http://schemas.openxmlformats.org/drawingml/2006/main">
            <a:off x="609600" y="2324100"/>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2C3C"/>
                </a:solidFill>
                <a:latin typeface="Helvetica Neue"/>
                <a:ea typeface="Helvetica Neue"/>
                <a:cs typeface="Helvetica Neue"/>
              </a:defRPr>
            </a:pPr>
            <a:r>
              <a:rPr sz="2625" b="0">
                <a:solidFill>
                  <a:srgbClr val="172C3C"/>
                </a:solidFill>
                <a:latin typeface="Helvetica Neue"/>
                <a:ea typeface="Helvetica Neue"/>
                <a:cs typeface="Helvetica Neue"/>
              </a:rPr>
              <a:t>Geometry explains feature timing in diffusion.</a:t>
            </a:r>
          </a:p>
        </p:txBody>
      </p:sp>
      <p:sp>
        <p:nvSpPr>
          <p:cNvPr id="5" name="">
            <a:extLst xmlns:a="http://schemas.openxmlformats.org/drawingml/2006/main">
              <a:ext uri="{FF2B5EF4-FFF2-40B4-BE49-F238E27FC236}">
                <a16:creationId xmlns:a16="http://schemas.microsoft.com/office/drawing/2014/main" id="{E2A823B9-5F62-4C50-86A4-D8B0DF9A9B18}"/>
              </a:ext>
            </a:extLst>
          </p:cNvPr>
          <p:cNvSpPr>
            <a:spLocks xmlns:a="http://schemas.openxmlformats.org/drawingml/2006/main" noGrp="1"/>
          </p:cNvSpPr>
          <p:nvPr/>
        </p:nvSpPr>
        <p:spPr>
          <a:xfrm xmlns:a="http://schemas.openxmlformats.org/drawingml/2006/main">
            <a:off x="609600" y="34766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87E8B"/>
                </a:solidFill>
                <a:latin typeface="Helvetica Neue"/>
                <a:ea typeface="Helvetica Neue"/>
                <a:cs typeface="Helvetica Neue"/>
              </a:defRPr>
            </a:pPr>
            <a:r>
              <a:rPr sz="2475" b="1">
                <a:solidFill>
                  <a:srgbClr val="087E8B"/>
                </a:solidFill>
                <a:latin typeface="Helvetica Neue"/>
                <a:ea typeface="Helvetica Neue"/>
                <a:cs typeface="Helvetica Neue"/>
              </a:rPr>
              <a:t>Blink of an Eye (2025)</a:t>
            </a:r>
          </a:p>
        </p:txBody>
      </p:sp>
      <p:sp>
        <p:nvSpPr>
          <p:cNvPr id="6" name="">
            <a:extLst xmlns:a="http://schemas.openxmlformats.org/drawingml/2006/main">
              <a:ext uri="{FF2B5EF4-FFF2-40B4-BE49-F238E27FC236}">
                <a16:creationId xmlns:a16="http://schemas.microsoft.com/office/drawing/2014/main" id="{58673E28-CF32-476B-81D0-933DE217D650}"/>
              </a:ext>
            </a:extLst>
          </p:cNvPr>
          <p:cNvSpPr>
            <a:spLocks xmlns:a="http://schemas.openxmlformats.org/drawingml/2006/main" noGrp="1"/>
          </p:cNvSpPr>
          <p:nvPr/>
        </p:nvSpPr>
        <p:spPr>
          <a:xfrm xmlns:a="http://schemas.openxmlformats.org/drawingml/2006/main">
            <a:off x="609600" y="409575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72C3C"/>
                </a:solidFill>
                <a:latin typeface="Helvetica Neue"/>
                <a:ea typeface="Helvetica Neue"/>
                <a:cs typeface="Helvetica Neue"/>
              </a:defRPr>
            </a:pPr>
            <a:r>
              <a:rPr sz="2625" b="0">
                <a:solidFill>
                  <a:srgbClr val="172C3C"/>
                </a:solidFill>
                <a:latin typeface="Helvetica Neue"/>
                <a:ea typeface="Helvetica Neue"/>
                <a:cs typeface="Helvetica Neue"/>
              </a:rPr>
              <a:t>The same probability principle applies to text and images.</a:t>
            </a:r>
          </a:p>
        </p:txBody>
      </p:sp>
      <p:sp>
        <p:nvSpPr>
          <p:cNvPr id="7" name="">
            <a:extLst xmlns:a="http://schemas.openxmlformats.org/drawingml/2006/main">
              <a:ext uri="{FF2B5EF4-FFF2-40B4-BE49-F238E27FC236}">
                <a16:creationId xmlns:a16="http://schemas.microsoft.com/office/drawing/2014/main" id="{6A867CFD-52FF-49ED-853C-64600B64D193}"/>
              </a:ext>
            </a:extLst>
          </p:cNvPr>
          <p:cNvSpPr>
            <a:spLocks xmlns:a="http://schemas.openxmlformats.org/drawingml/2006/main" noGrp="1"/>
          </p:cNvSpPr>
          <p:nvPr/>
        </p:nvSpPr>
        <p:spPr>
          <a:xfrm xmlns:a="http://schemas.openxmlformats.org/drawingml/2006/main">
            <a:off x="609600" y="5257800"/>
            <a:ext cx="10763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72C3C"/>
                </a:solidFill>
                <a:latin typeface="Helvetica Neue"/>
                <a:ea typeface="Helvetica Neue"/>
                <a:cs typeface="Helvetica Neue"/>
              </a:defRPr>
            </a:pPr>
            <a:r>
              <a:rPr sz="2775" b="1">
                <a:solidFill>
                  <a:srgbClr val="172C3C"/>
                </a:solidFill>
                <a:latin typeface="Helvetica Neue"/>
                <a:ea typeface="Helvetica Neue"/>
                <a:cs typeface="Helvetica Neue"/>
              </a:rPr>
              <a:t>Could restarting near a window help repair a wrong solution?</a:t>
            </a:r>
          </a:p>
        </p:txBody>
      </p:sp>
      <p:sp>
        <p:nvSpPr>
          <p:cNvPr id="8" name="">
            <a:extLst xmlns:a="http://schemas.openxmlformats.org/drawingml/2006/main">
              <a:ext uri="{FF2B5EF4-FFF2-40B4-BE49-F238E27FC236}">
                <a16:creationId xmlns:a16="http://schemas.microsoft.com/office/drawing/2014/main" id="{503101FA-075B-4D0F-8FA6-E5AE04BBC73A}"/>
              </a:ext>
            </a:extLst>
          </p:cNvPr>
          <p:cNvSpPr>
            <a:spLocks xmlns:a="http://schemas.openxmlformats.org/drawingml/2006/main" noGrp="1"/>
          </p:cNvSpPr>
          <p:nvPr/>
        </p:nvSpPr>
        <p:spPr>
          <a:xfrm xmlns:a="http://schemas.openxmlformats.org/drawingml/2006/main">
            <a:off x="609600" y="6257925"/>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6674"/>
                </a:solidFill>
                <a:latin typeface="Helvetica Neue"/>
                <a:ea typeface="Helvetica Neue"/>
                <a:cs typeface="Helvetica Neue"/>
              </a:defRPr>
            </a:pPr>
            <a:r>
              <a:rPr sz="1350" b="0">
                <a:solidFill>
                  <a:srgbClr val="546674"/>
                </a:solidFill>
                <a:latin typeface="Helvetica Neue"/>
                <a:ea typeface="Helvetica Neue"/>
                <a:cs typeface="Helvetica Neue"/>
              </a:rPr>
              <a:t>Papers: arxiv.org/abs/2403.01633   and   arxiv.org/abs/2502.00921</a:t>
            </a:r>
          </a:p>
        </p:txBody>
      </p:sp>
    </p:spTree>
    <p:extLst>
      <p:ext uri="{BB962C8B-B14F-4D97-AF65-F5344CB8AC3E}">
        <p14:creationId xmlns:p14="http://schemas.microsoft.com/office/powerpoint/2010/main" val="3553916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2026-09-12T06:21:37.9700000Z</dcterms:created>
  <dcterms:modified xsi:type="dcterms:W3CDTF">2026-09-12T06:21:37.9700000Z</dcterms:modified>
</coreProperties>
</file>